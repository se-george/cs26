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Albert Sans" pitchFamily="2" charset="0"/>
      <p:regular r:id="rId13"/>
    </p:embeddedFont>
    <p:embeddedFont>
      <p:font typeface="Albert Sans Bold" pitchFamily="2" charset="0"/>
      <p:regular r:id="rId14"/>
    </p:embeddedFont>
    <p:embeddedFont>
      <p:font typeface="Albert Sans SemiBold" pitchFamily="2" charset="0"/>
      <p:regular r:id="rId15"/>
    </p:embeddedFont>
    <p:embeddedFont>
      <p:font typeface="Hedvig Letters Serif" pitchFamily="2" charset="0"/>
      <p:regular r:id="rId16"/>
    </p:embeddedFont>
    <p:embeddedFont>
      <p:font typeface="Red Hat Mono Medium" panose="02010509040201060303" pitchFamily="49"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1.fntdata"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notesMaster" Target="notesMasters/notesMaster1.xml" /><Relationship Id="rId17" Type="http://schemas.openxmlformats.org/officeDocument/2006/relationships/font" Target="fonts/font5.fntdata" /><Relationship Id="rId2" Type="http://schemas.openxmlformats.org/officeDocument/2006/relationships/slide" Target="slides/slide1.xml" /><Relationship Id="rId16" Type="http://schemas.openxmlformats.org/officeDocument/2006/relationships/font" Target="fonts/font4.fntdata"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font" Target="fonts/font3.fntdata"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2.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234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“Today, we are going to learn how to read smarter, not harder.”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for a quick show of hands: “Which problem do you have?” Let two or three students share before revealing that these are all caused by one common habit: word-by-word translating.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cycles side by side. Emphasize that "Bad Reading" leads directly to cognitive overload and panic. Reassure students with the takeaway claim: fluent readers skip, infer, and focus on context.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revealing the core meaning. Have students look at the four questions and volunteer quick answers. Point out that dropping modifiers like "rapid" and "significantly" still preserves the entire essential message.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confirming the answer. Ask: “Why is it B and not A or C?” Explain that teachers and homework are only details supporting the broader subject of online education.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contrast: Topic is simply the subject matter ("What?"), while Main Idea is the writer's actual message or argument about that topic ("What does the writer say about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compare answers with a partner for 60 seconds: have one partner give a topic (e.g., "Artificial intelligence") and the other expand it into a complete main idea sentence.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question keywords act as navigational beacons. When scanning a 500-word academic passage, students should look directly for capital letters, numbers, and the specific noun phrase.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revealing the answers. Give students 90 seconds to read the short passage individually and write down their answers to items 1, 2, and 3 before checking the reveal column.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survival kit together as a class. Reinforce the core philosophy of Lesson 1: proficient university readers focus on topic, main idea, and targeted keywords rather than translating every single word.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3EAE5"/>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3EAE5"/>
          </a:solidFill>
          <a:ln/>
        </p:spPr>
      </p:sp>
      <p:sp>
        <p:nvSpPr>
          <p:cNvPr id="3" name="Shape 1"/>
          <p:cNvSpPr/>
          <p:nvPr/>
        </p:nvSpPr>
        <p:spPr>
          <a:xfrm>
            <a:off x="0" y="0"/>
            <a:ext cx="12191695" cy="6858000"/>
          </a:xfrm>
          <a:prstGeom prst="rect">
            <a:avLst/>
          </a:prstGeom>
          <a:solidFill>
            <a:srgbClr val="17813A"/>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1586905"/>
            <a:ext cx="6822309"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ACADEMIC ENGLISH — READING SKILLS</a:t>
            </a:r>
            <a:endParaRPr lang="en-US" sz="1200" dirty="0"/>
          </a:p>
        </p:txBody>
      </p:sp>
      <p:sp>
        <p:nvSpPr>
          <p:cNvPr id="3" name="Text 1"/>
          <p:cNvSpPr/>
          <p:nvPr/>
        </p:nvSpPr>
        <p:spPr>
          <a:xfrm>
            <a:off x="609585" y="1870670"/>
            <a:ext cx="6212724" cy="2011561"/>
          </a:xfrm>
          <a:prstGeom prst="rect">
            <a:avLst/>
          </a:prstGeom>
          <a:noFill/>
          <a:ln/>
        </p:spPr>
        <p:txBody>
          <a:bodyPr wrap="square" lIns="0" tIns="0" rIns="0" bIns="0" rtlCol="0" anchor="t">
            <a:normAutofit lnSpcReduction="10000"/>
          </a:bodyPr>
          <a:lstStyle/>
          <a:p>
            <a:pPr marL="0" indent="0" algn="l">
              <a:lnSpc>
                <a:spcPct val="92000"/>
              </a:lnSpc>
              <a:buNone/>
            </a:pPr>
            <a:r>
              <a:rPr lang="en-US" sz="7200" kern="100" spc="-144" dirty="0">
                <a:solidFill>
                  <a:srgbClr val="12261A"/>
                </a:solidFill>
                <a:latin typeface="Hedvig Letters Serif" pitchFamily="34" charset="0"/>
                <a:ea typeface="Hedvig Letters Serif" pitchFamily="34" charset="-122"/>
                <a:cs typeface="Hedvig Letters Serif" pitchFamily="34" charset="-120"/>
              </a:rPr>
              <a:t>Reading Foundations</a:t>
            </a:r>
            <a:endParaRPr lang="en-US" sz="7200" dirty="0"/>
          </a:p>
        </p:txBody>
      </p:sp>
      <p:sp>
        <p:nvSpPr>
          <p:cNvPr id="4" name="Shape 2"/>
          <p:cNvSpPr/>
          <p:nvPr/>
        </p:nvSpPr>
        <p:spPr>
          <a:xfrm>
            <a:off x="609585" y="4282083"/>
            <a:ext cx="201111" cy="31651"/>
          </a:xfrm>
          <a:prstGeom prst="roundRect">
            <a:avLst>
              <a:gd name="adj" fmla="val 49998"/>
            </a:avLst>
          </a:prstGeom>
          <a:solidFill>
            <a:srgbClr val="17813A"/>
          </a:solidFill>
          <a:ln/>
        </p:spPr>
      </p:sp>
      <p:sp>
        <p:nvSpPr>
          <p:cNvPr id="5" name="Text 3"/>
          <p:cNvSpPr/>
          <p:nvPr/>
        </p:nvSpPr>
        <p:spPr>
          <a:xfrm>
            <a:off x="609585" y="4559895"/>
            <a:ext cx="6212724" cy="711200"/>
          </a:xfrm>
          <a:prstGeom prst="rect">
            <a:avLst/>
          </a:prstGeom>
          <a:noFill/>
          <a:ln/>
        </p:spPr>
        <p:txBody>
          <a:bodyPr wrap="square" lIns="0" tIns="0" rIns="0" bIns="0" rtlCol="0" anchor="t">
            <a:normAutofit/>
          </a:bodyPr>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How to Understand a Text Without Translating Every Word</a:t>
            </a:r>
            <a:endParaRPr lang="en-US" sz="2000" dirty="0"/>
          </a:p>
        </p:txBody>
      </p:sp>
      <p:sp>
        <p:nvSpPr>
          <p:cNvPr id="6" name="Shape 4"/>
          <p:cNvSpPr/>
          <p:nvPr/>
        </p:nvSpPr>
        <p:spPr>
          <a:xfrm>
            <a:off x="7888983" y="459184"/>
            <a:ext cx="3794725" cy="5939730"/>
          </a:xfrm>
          <a:prstGeom prst="rect">
            <a:avLst/>
          </a:prstGeom>
          <a:noFill/>
          <a:ln w="6350">
            <a:solidFill>
              <a:srgbClr val="17813A"/>
            </a:solidFill>
            <a:prstDash val="solid"/>
          </a:ln>
        </p:spPr>
      </p:sp>
      <p:pic>
        <p:nvPicPr>
          <p:cNvPr id="7" name="Image 0" descr="preencoded.png"/>
          <p:cNvPicPr>
            <a:picLocks noChangeAspect="1"/>
          </p:cNvPicPr>
          <p:nvPr/>
        </p:nvPicPr>
        <p:blipFill>
          <a:blip r:embed="rId3"/>
          <a:stretch>
            <a:fillRect/>
          </a:stretch>
        </p:blipFill>
        <p:spPr>
          <a:xfrm>
            <a:off x="8047729" y="617934"/>
            <a:ext cx="3477233" cy="4636393"/>
          </a:xfrm>
          <a:prstGeom prst="rect">
            <a:avLst/>
          </a:prstGeom>
        </p:spPr>
      </p:pic>
      <p:sp>
        <p:nvSpPr>
          <p:cNvPr id="8" name="Text 5"/>
          <p:cNvSpPr/>
          <p:nvPr/>
        </p:nvSpPr>
        <p:spPr>
          <a:xfrm>
            <a:off x="8047729" y="5448002"/>
            <a:ext cx="3477233" cy="792163"/>
          </a:xfrm>
          <a:prstGeom prst="rect">
            <a:avLst/>
          </a:prstGeom>
          <a:noFill/>
          <a:ln/>
        </p:spPr>
        <p:txBody>
          <a:bodyPr wrap="square" lIns="0" tIns="0" rIns="0" bIns="0" rtlCol="0" anchor="t">
            <a:normAutofit/>
          </a:bodyPr>
          <a:lstStyle/>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COURSE MODULE 01</a:t>
            </a:r>
            <a:endParaRPr lang="en-US" sz="1200" dirty="0"/>
          </a:p>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READING STRATEGIES</a:t>
            </a:r>
            <a:endParaRPr lang="en-US" sz="1200" dirty="0"/>
          </a:p>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UNIVERSITY FOUNDATIONS</a:t>
            </a:r>
            <a:endParaRPr lang="en-US" sz="1200" dirty="0"/>
          </a:p>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AUTUMN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0972526" cy="457696"/>
          </a:xfrm>
          <a:prstGeom prst="rect">
            <a:avLst/>
          </a:prstGeom>
          <a:noFill/>
          <a:ln/>
        </p:spPr>
        <p:txBody>
          <a:bodyPr wrap="none" lIns="0" tIns="0" rIns="0" bIns="0" rtlCol="0" anchor="t"/>
          <a:lstStyle/>
          <a:p>
            <a:pPr marL="0" indent="0" algn="l">
              <a:lnSpc>
                <a:spcPct val="88000"/>
              </a:lnSpc>
              <a:buNone/>
            </a:pPr>
            <a:r>
              <a:rPr lang="en-US" sz="3400" kern="100" spc="-41" dirty="0">
                <a:solidFill>
                  <a:srgbClr val="12261A"/>
                </a:solidFill>
                <a:latin typeface="Hedvig Letters Serif" pitchFamily="34" charset="0"/>
                <a:ea typeface="Hedvig Letters Serif" pitchFamily="34" charset="-122"/>
                <a:cs typeface="Hedvig Letters Serif" pitchFamily="34" charset="-120"/>
              </a:rPr>
              <a:t>Why Is Reading Difficult?</a:t>
            </a:r>
            <a:endParaRPr lang="en-US" sz="3400" dirty="0"/>
          </a:p>
        </p:txBody>
      </p:sp>
      <p:sp>
        <p:nvSpPr>
          <p:cNvPr id="3" name="Shape 1"/>
          <p:cNvSpPr/>
          <p:nvPr/>
        </p:nvSpPr>
        <p:spPr>
          <a:xfrm>
            <a:off x="609585" y="1335584"/>
            <a:ext cx="609585" cy="31651"/>
          </a:xfrm>
          <a:prstGeom prst="roundRect">
            <a:avLst>
              <a:gd name="adj" fmla="val 49998"/>
            </a:avLst>
          </a:prstGeom>
          <a:solidFill>
            <a:srgbClr val="17813A"/>
          </a:solidFill>
          <a:ln/>
        </p:spPr>
      </p:sp>
      <p:sp>
        <p:nvSpPr>
          <p:cNvPr id="4" name="Text 2"/>
          <p:cNvSpPr/>
          <p:nvPr/>
        </p:nvSpPr>
        <p:spPr>
          <a:xfrm>
            <a:off x="609585" y="2219821"/>
            <a:ext cx="10972526" cy="355600"/>
          </a:xfrm>
          <a:prstGeom prst="rect">
            <a:avLst/>
          </a:prstGeom>
          <a:noFill/>
          <a:ln/>
        </p:spPr>
        <p:txBody>
          <a:bodyPr wrap="none" lIns="0" tIns="0" rIns="0" bIns="0" rtlCol="0" anchor="t"/>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“I don't know this word.”</a:t>
            </a:r>
            <a:endParaRPr lang="en-US" sz="2000" dirty="0"/>
          </a:p>
        </p:txBody>
      </p:sp>
      <p:sp>
        <p:nvSpPr>
          <p:cNvPr id="5" name="Text 3"/>
          <p:cNvSpPr/>
          <p:nvPr/>
        </p:nvSpPr>
        <p:spPr>
          <a:xfrm>
            <a:off x="609585" y="2880221"/>
            <a:ext cx="10972526" cy="355600"/>
          </a:xfrm>
          <a:prstGeom prst="rect">
            <a:avLst/>
          </a:prstGeom>
          <a:noFill/>
          <a:ln/>
        </p:spPr>
        <p:txBody>
          <a:bodyPr wrap="none" lIns="0" tIns="0" rIns="0" bIns="0" rtlCol="0" anchor="t"/>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“I have to translate everything.”</a:t>
            </a:r>
            <a:endParaRPr lang="en-US" sz="2000" dirty="0"/>
          </a:p>
        </p:txBody>
      </p:sp>
      <p:sp>
        <p:nvSpPr>
          <p:cNvPr id="6" name="Text 4"/>
          <p:cNvSpPr/>
          <p:nvPr/>
        </p:nvSpPr>
        <p:spPr>
          <a:xfrm>
            <a:off x="609585" y="3540621"/>
            <a:ext cx="10972526" cy="355600"/>
          </a:xfrm>
          <a:prstGeom prst="rect">
            <a:avLst/>
          </a:prstGeom>
          <a:noFill/>
          <a:ln/>
        </p:spPr>
        <p:txBody>
          <a:bodyPr wrap="none" lIns="0" tIns="0" rIns="0" bIns="0" rtlCol="0" anchor="t"/>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“I forget what I just read.”</a:t>
            </a:r>
            <a:endParaRPr lang="en-US" sz="2000" dirty="0"/>
          </a:p>
        </p:txBody>
      </p:sp>
      <p:sp>
        <p:nvSpPr>
          <p:cNvPr id="7" name="Text 5"/>
          <p:cNvSpPr/>
          <p:nvPr/>
        </p:nvSpPr>
        <p:spPr>
          <a:xfrm>
            <a:off x="609585" y="4201021"/>
            <a:ext cx="10972526" cy="355600"/>
          </a:xfrm>
          <a:prstGeom prst="rect">
            <a:avLst/>
          </a:prstGeom>
          <a:noFill/>
          <a:ln/>
        </p:spPr>
        <p:txBody>
          <a:bodyPr wrap="none" lIns="0" tIns="0" rIns="0" bIns="0" rtlCol="0" anchor="t"/>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“I don't know what the question wants.”</a:t>
            </a:r>
            <a:endParaRPr lang="en-US" sz="2000" dirty="0"/>
          </a:p>
        </p:txBody>
      </p:sp>
      <p:sp>
        <p:nvSpPr>
          <p:cNvPr id="8" name="Text 6"/>
          <p:cNvSpPr/>
          <p:nvPr/>
        </p:nvSpPr>
        <p:spPr>
          <a:xfrm>
            <a:off x="609585" y="4861421"/>
            <a:ext cx="10972526" cy="355600"/>
          </a:xfrm>
          <a:prstGeom prst="rect">
            <a:avLst/>
          </a:prstGeom>
          <a:noFill/>
          <a:ln/>
        </p:spPr>
        <p:txBody>
          <a:bodyPr wrap="none" lIns="0" tIns="0" rIns="0" bIns="0" rtlCol="0" anchor="t"/>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“The passage is too long.”</a:t>
            </a:r>
            <a:endParaRPr lang="en-US" sz="2000" dirty="0"/>
          </a:p>
        </p:txBody>
      </p:sp>
      <p:sp>
        <p:nvSpPr>
          <p:cNvPr id="9" name="Text 7"/>
          <p:cNvSpPr/>
          <p:nvPr/>
        </p:nvSpPr>
        <p:spPr>
          <a:xfrm>
            <a:off x="609585" y="6017121"/>
            <a:ext cx="11582110" cy="231378"/>
          </a:xfrm>
          <a:prstGeom prst="rect">
            <a:avLst/>
          </a:prstGeom>
          <a:noFill/>
          <a:ln/>
        </p:spPr>
        <p:txBody>
          <a:bodyPr wrap="none" lIns="0" tIns="0" rIns="0" bIns="0" rtlCol="0" anchor="t"/>
          <a:lstStyle/>
          <a:p>
            <a:pPr marL="0" indent="0" algn="l">
              <a:lnSpc>
                <a:spcPct val="113000"/>
              </a:lnSpc>
              <a:buNone/>
            </a:pPr>
            <a:r>
              <a:rPr lang="en-US" sz="1350" dirty="0">
                <a:solidFill>
                  <a:srgbClr val="4F5E55"/>
                </a:solidFill>
                <a:latin typeface="Albert Sans" pitchFamily="34" charset="0"/>
                <a:ea typeface="Albert Sans" pitchFamily="34" charset="-122"/>
                <a:cs typeface="Albert Sans" pitchFamily="34" charset="-120"/>
              </a:rPr>
              <a:t>Ask: “Which problem do you have?”</a:t>
            </a:r>
            <a:endParaRPr lang="en-US" sz="1350" dirty="0"/>
          </a:p>
        </p:txBody>
      </p:sp>
      <p:sp>
        <p:nvSpPr>
          <p:cNvPr id="10" name="Shape 8"/>
          <p:cNvSpPr/>
          <p:nvPr/>
        </p:nvSpPr>
        <p:spPr>
          <a:xfrm>
            <a:off x="609585" y="2721471"/>
            <a:ext cx="10972526" cy="12700"/>
          </a:xfrm>
          <a:prstGeom prst="rect">
            <a:avLst/>
          </a:prstGeom>
          <a:solidFill>
            <a:srgbClr val="17813A"/>
          </a:solidFill>
          <a:ln/>
        </p:spPr>
      </p:sp>
      <p:sp>
        <p:nvSpPr>
          <p:cNvPr id="11" name="Shape 9"/>
          <p:cNvSpPr/>
          <p:nvPr/>
        </p:nvSpPr>
        <p:spPr>
          <a:xfrm>
            <a:off x="609585" y="3381871"/>
            <a:ext cx="10972526" cy="12700"/>
          </a:xfrm>
          <a:prstGeom prst="rect">
            <a:avLst/>
          </a:prstGeom>
          <a:solidFill>
            <a:srgbClr val="17813A"/>
          </a:solidFill>
          <a:ln/>
        </p:spPr>
      </p:sp>
      <p:sp>
        <p:nvSpPr>
          <p:cNvPr id="12" name="Shape 10"/>
          <p:cNvSpPr/>
          <p:nvPr/>
        </p:nvSpPr>
        <p:spPr>
          <a:xfrm>
            <a:off x="609585" y="4042271"/>
            <a:ext cx="10972526" cy="12700"/>
          </a:xfrm>
          <a:prstGeom prst="rect">
            <a:avLst/>
          </a:prstGeom>
          <a:solidFill>
            <a:srgbClr val="17813A"/>
          </a:solidFill>
          <a:ln/>
        </p:spPr>
      </p:sp>
      <p:sp>
        <p:nvSpPr>
          <p:cNvPr id="13" name="Shape 11"/>
          <p:cNvSpPr/>
          <p:nvPr/>
        </p:nvSpPr>
        <p:spPr>
          <a:xfrm>
            <a:off x="609585" y="4702671"/>
            <a:ext cx="10972526" cy="12700"/>
          </a:xfrm>
          <a:prstGeom prst="rect">
            <a:avLst/>
          </a:prstGeom>
          <a:solidFill>
            <a:srgbClr val="17813A"/>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0972526" cy="457696"/>
          </a:xfrm>
          <a:prstGeom prst="rect">
            <a:avLst/>
          </a:prstGeom>
          <a:noFill/>
          <a:ln/>
        </p:spPr>
        <p:txBody>
          <a:bodyPr wrap="none" lIns="0" tIns="0" rIns="0" bIns="0" rtlCol="0" anchor="t"/>
          <a:lstStyle/>
          <a:p>
            <a:pPr marL="0" indent="0" algn="l">
              <a:lnSpc>
                <a:spcPct val="88000"/>
              </a:lnSpc>
              <a:buNone/>
            </a:pPr>
            <a:r>
              <a:rPr lang="en-US" sz="3400" kern="100" spc="-41" dirty="0">
                <a:solidFill>
                  <a:srgbClr val="12261A"/>
                </a:solidFill>
                <a:latin typeface="Hedvig Letters Serif" pitchFamily="34" charset="0"/>
                <a:ea typeface="Hedvig Letters Serif" pitchFamily="34" charset="-122"/>
                <a:cs typeface="Hedvig Letters Serif" pitchFamily="34" charset="-120"/>
              </a:rPr>
              <a:t>Do I Need to Understand Every Word?</a:t>
            </a:r>
            <a:endParaRPr lang="en-US" sz="3400" dirty="0"/>
          </a:p>
        </p:txBody>
      </p:sp>
      <p:sp>
        <p:nvSpPr>
          <p:cNvPr id="3" name="Shape 1"/>
          <p:cNvSpPr/>
          <p:nvPr/>
        </p:nvSpPr>
        <p:spPr>
          <a:xfrm>
            <a:off x="609585" y="1335584"/>
            <a:ext cx="609585" cy="31651"/>
          </a:xfrm>
          <a:prstGeom prst="roundRect">
            <a:avLst>
              <a:gd name="adj" fmla="val 49998"/>
            </a:avLst>
          </a:prstGeom>
          <a:solidFill>
            <a:srgbClr val="17813A"/>
          </a:solidFill>
          <a:ln/>
        </p:spPr>
      </p:sp>
      <p:sp>
        <p:nvSpPr>
          <p:cNvPr id="4" name="Shape 2"/>
          <p:cNvSpPr/>
          <p:nvPr/>
        </p:nvSpPr>
        <p:spPr>
          <a:xfrm>
            <a:off x="609585" y="2631777"/>
            <a:ext cx="5257668" cy="2049066"/>
          </a:xfrm>
          <a:prstGeom prst="rect">
            <a:avLst/>
          </a:prstGeom>
          <a:noFill/>
          <a:ln w="6350">
            <a:solidFill>
              <a:srgbClr val="17813A"/>
            </a:solidFill>
            <a:prstDash val="solid"/>
          </a:ln>
        </p:spPr>
      </p:sp>
      <p:sp>
        <p:nvSpPr>
          <p:cNvPr id="5" name="Text 3"/>
          <p:cNvSpPr/>
          <p:nvPr/>
        </p:nvSpPr>
        <p:spPr>
          <a:xfrm>
            <a:off x="895328" y="2917527"/>
            <a:ext cx="4971926"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4F5E55"/>
                </a:solidFill>
                <a:latin typeface="Red Hat Mono Medium" pitchFamily="34" charset="0"/>
                <a:ea typeface="Red Hat Mono Medium" pitchFamily="34" charset="-122"/>
                <a:cs typeface="Red Hat Mono Medium" pitchFamily="34" charset="-120"/>
              </a:rPr>
              <a:t>THE SLOW TRAP</a:t>
            </a:r>
            <a:endParaRPr lang="en-US" sz="1200" dirty="0"/>
          </a:p>
        </p:txBody>
      </p:sp>
      <p:sp>
        <p:nvSpPr>
          <p:cNvPr id="6" name="Text 4"/>
          <p:cNvSpPr/>
          <p:nvPr/>
        </p:nvSpPr>
        <p:spPr>
          <a:xfrm>
            <a:off x="895328" y="3201293"/>
            <a:ext cx="4686183" cy="304800"/>
          </a:xfrm>
          <a:prstGeom prst="rect">
            <a:avLst/>
          </a:prstGeom>
          <a:noFill/>
          <a:ln/>
        </p:spPr>
        <p:txBody>
          <a:bodyPr wrap="none" lIns="0" tIns="0" rIns="0" bIns="0" rtlCol="0" anchor="t"/>
          <a:lstStyle/>
          <a:p>
            <a:pPr marL="0" indent="0" algn="l">
              <a:lnSpc>
                <a:spcPct val="100000"/>
              </a:lnSpc>
              <a:buNone/>
            </a:pPr>
            <a:r>
              <a:rPr lang="en-US" sz="2000" dirty="0">
                <a:solidFill>
                  <a:srgbClr val="12261A"/>
                </a:solidFill>
                <a:latin typeface="Albert Sans SemiBold" pitchFamily="34" charset="0"/>
                <a:ea typeface="Albert Sans SemiBold" pitchFamily="34" charset="-122"/>
                <a:cs typeface="Albert Sans SemiBold" pitchFamily="34" charset="-120"/>
              </a:rPr>
              <a:t>BAD READING</a:t>
            </a:r>
            <a:endParaRPr lang="en-US" sz="2000" dirty="0"/>
          </a:p>
        </p:txBody>
      </p:sp>
      <p:sp>
        <p:nvSpPr>
          <p:cNvPr id="7" name="Text 5"/>
          <p:cNvSpPr/>
          <p:nvPr/>
        </p:nvSpPr>
        <p:spPr>
          <a:xfrm>
            <a:off x="895328" y="3683893"/>
            <a:ext cx="4686183" cy="711200"/>
          </a:xfrm>
          <a:prstGeom prst="rect">
            <a:avLst/>
          </a:prstGeom>
          <a:noFill/>
          <a:ln/>
        </p:spPr>
        <p:txBody>
          <a:bodyPr wrap="square" lIns="0" tIns="0" rIns="0" bIns="0" rtlCol="0" anchor="t">
            <a:normAutofit/>
          </a:bodyPr>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Read → Stop → Translate → Stop → Translate → Forget → Panic</a:t>
            </a:r>
            <a:endParaRPr lang="en-US" sz="2000" dirty="0"/>
          </a:p>
        </p:txBody>
      </p:sp>
      <p:sp>
        <p:nvSpPr>
          <p:cNvPr id="8" name="Shape 6"/>
          <p:cNvSpPr/>
          <p:nvPr/>
        </p:nvSpPr>
        <p:spPr>
          <a:xfrm>
            <a:off x="6324442" y="2631777"/>
            <a:ext cx="5257668" cy="2049066"/>
          </a:xfrm>
          <a:prstGeom prst="rect">
            <a:avLst/>
          </a:prstGeom>
          <a:solidFill>
            <a:srgbClr val="EFF7F0"/>
          </a:solidFill>
          <a:ln w="6350">
            <a:solidFill>
              <a:srgbClr val="17813A"/>
            </a:solidFill>
            <a:prstDash val="solid"/>
          </a:ln>
        </p:spPr>
      </p:sp>
      <p:sp>
        <p:nvSpPr>
          <p:cNvPr id="9" name="Text 7"/>
          <p:cNvSpPr/>
          <p:nvPr/>
        </p:nvSpPr>
        <p:spPr>
          <a:xfrm>
            <a:off x="6610185" y="2917527"/>
            <a:ext cx="4971926"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17813A"/>
                </a:solidFill>
                <a:latin typeface="Red Hat Mono Medium" pitchFamily="34" charset="0"/>
                <a:ea typeface="Red Hat Mono Medium" pitchFamily="34" charset="-122"/>
                <a:cs typeface="Red Hat Mono Medium" pitchFamily="34" charset="-120"/>
              </a:rPr>
              <a:t>THE EFFICIENT HABIT</a:t>
            </a:r>
            <a:endParaRPr lang="en-US" sz="1200" dirty="0"/>
          </a:p>
        </p:txBody>
      </p:sp>
      <p:sp>
        <p:nvSpPr>
          <p:cNvPr id="10" name="Text 8"/>
          <p:cNvSpPr/>
          <p:nvPr/>
        </p:nvSpPr>
        <p:spPr>
          <a:xfrm>
            <a:off x="6610185" y="3201293"/>
            <a:ext cx="4686183" cy="304800"/>
          </a:xfrm>
          <a:prstGeom prst="rect">
            <a:avLst/>
          </a:prstGeom>
          <a:noFill/>
          <a:ln/>
        </p:spPr>
        <p:txBody>
          <a:bodyPr wrap="none" lIns="0" tIns="0" rIns="0" bIns="0" rtlCol="0" anchor="t"/>
          <a:lstStyle/>
          <a:p>
            <a:pPr marL="0" indent="0" algn="l">
              <a:lnSpc>
                <a:spcPct val="100000"/>
              </a:lnSpc>
              <a:buNone/>
            </a:pPr>
            <a:r>
              <a:rPr lang="en-US" sz="2000" dirty="0">
                <a:solidFill>
                  <a:srgbClr val="000000"/>
                </a:solidFill>
                <a:latin typeface="Albert Sans SemiBold" pitchFamily="34" charset="0"/>
                <a:ea typeface="Albert Sans SemiBold" pitchFamily="34" charset="-122"/>
                <a:cs typeface="Albert Sans SemiBold" pitchFamily="34" charset="-120"/>
              </a:rPr>
              <a:t>BETTER READING</a:t>
            </a:r>
            <a:endParaRPr lang="en-US" sz="2000" dirty="0"/>
          </a:p>
        </p:txBody>
      </p:sp>
      <p:sp>
        <p:nvSpPr>
          <p:cNvPr id="11" name="Text 9"/>
          <p:cNvSpPr/>
          <p:nvPr/>
        </p:nvSpPr>
        <p:spPr>
          <a:xfrm>
            <a:off x="6610185" y="3683893"/>
            <a:ext cx="4686183" cy="711200"/>
          </a:xfrm>
          <a:prstGeom prst="rect">
            <a:avLst/>
          </a:prstGeom>
          <a:noFill/>
          <a:ln/>
        </p:spPr>
        <p:txBody>
          <a:bodyPr wrap="square" lIns="0" tIns="0" rIns="0" bIns="0" rtlCol="0" anchor="t">
            <a:normAutofit/>
          </a:bodyPr>
          <a:lstStyle/>
          <a:p>
            <a:pPr marL="0" indent="0" algn="l">
              <a:lnSpc>
                <a:spcPct val="117000"/>
              </a:lnSpc>
              <a:buNone/>
            </a:pPr>
            <a:r>
              <a:rPr lang="en-US" sz="2000" dirty="0">
                <a:solidFill>
                  <a:srgbClr val="000000"/>
                </a:solidFill>
                <a:latin typeface="Albert Sans" pitchFamily="34" charset="0"/>
                <a:ea typeface="Albert Sans" pitchFamily="34" charset="-122"/>
                <a:cs typeface="Albert Sans" pitchFamily="34" charset="-120"/>
              </a:rPr>
              <a:t>Read → Find important information → Understand the context → Answer</a:t>
            </a:r>
            <a:endParaRPr lang="en-US" sz="2000" dirty="0"/>
          </a:p>
        </p:txBody>
      </p:sp>
      <p:sp>
        <p:nvSpPr>
          <p:cNvPr id="12" name="Text 10"/>
          <p:cNvSpPr/>
          <p:nvPr/>
        </p:nvSpPr>
        <p:spPr>
          <a:xfrm>
            <a:off x="609585" y="5892899"/>
            <a:ext cx="11582110" cy="355600"/>
          </a:xfrm>
          <a:prstGeom prst="rect">
            <a:avLst/>
          </a:prstGeom>
          <a:noFill/>
          <a:ln/>
        </p:spPr>
        <p:txBody>
          <a:bodyPr wrap="none" lIns="0" tIns="0" rIns="0" bIns="0" rtlCol="0" anchor="t"/>
          <a:lstStyle/>
          <a:p>
            <a:pPr marL="0" indent="0" algn="l">
              <a:lnSpc>
                <a:spcPct val="117000"/>
              </a:lnSpc>
              <a:buNone/>
            </a:pPr>
            <a:r>
              <a:rPr lang="en-US" sz="2000" dirty="0">
                <a:solidFill>
                  <a:srgbClr val="000000"/>
                </a:solidFill>
                <a:highlight>
                  <a:srgbClr val="F4E23C"/>
                </a:highlight>
                <a:latin typeface="Albert Sans" pitchFamily="34" charset="0"/>
                <a:ea typeface="Albert Sans" pitchFamily="34" charset="-122"/>
                <a:cs typeface="Albert Sans" pitchFamily="34" charset="-120"/>
              </a:rPr>
              <a:t>You do NOT need to understand every word to understand a text.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0972526" cy="457696"/>
          </a:xfrm>
          <a:prstGeom prst="rect">
            <a:avLst/>
          </a:prstGeom>
          <a:noFill/>
          <a:ln/>
        </p:spPr>
        <p:txBody>
          <a:bodyPr wrap="none" lIns="0" tIns="0" rIns="0" bIns="0" rtlCol="0" anchor="t"/>
          <a:lstStyle/>
          <a:p>
            <a:pPr marL="0" indent="0" algn="l">
              <a:lnSpc>
                <a:spcPct val="88000"/>
              </a:lnSpc>
              <a:buNone/>
            </a:pPr>
            <a:r>
              <a:rPr lang="en-US" sz="3400" kern="100" spc="-41" dirty="0">
                <a:solidFill>
                  <a:srgbClr val="12261A"/>
                </a:solidFill>
                <a:latin typeface="Hedvig Letters Serif" pitchFamily="34" charset="0"/>
                <a:ea typeface="Hedvig Letters Serif" pitchFamily="34" charset="-122"/>
                <a:cs typeface="Hedvig Letters Serif" pitchFamily="34" charset="-120"/>
              </a:rPr>
              <a:t>Warm-Up: Read for the General Meaning</a:t>
            </a:r>
            <a:endParaRPr lang="en-US" sz="3400" dirty="0"/>
          </a:p>
        </p:txBody>
      </p:sp>
      <p:sp>
        <p:nvSpPr>
          <p:cNvPr id="3" name="Shape 1"/>
          <p:cNvSpPr/>
          <p:nvPr/>
        </p:nvSpPr>
        <p:spPr>
          <a:xfrm>
            <a:off x="609585" y="1335584"/>
            <a:ext cx="609585" cy="31651"/>
          </a:xfrm>
          <a:prstGeom prst="roundRect">
            <a:avLst>
              <a:gd name="adj" fmla="val 49998"/>
            </a:avLst>
          </a:prstGeom>
          <a:solidFill>
            <a:srgbClr val="17813A"/>
          </a:solidFill>
          <a:ln/>
        </p:spPr>
      </p:sp>
      <p:sp>
        <p:nvSpPr>
          <p:cNvPr id="4" name="Shape 2"/>
          <p:cNvSpPr/>
          <p:nvPr/>
        </p:nvSpPr>
        <p:spPr>
          <a:xfrm>
            <a:off x="609585" y="2607370"/>
            <a:ext cx="6350" cy="2453481"/>
          </a:xfrm>
          <a:prstGeom prst="rect">
            <a:avLst/>
          </a:prstGeom>
          <a:solidFill>
            <a:srgbClr val="17813A"/>
          </a:solidFill>
          <a:ln/>
        </p:spPr>
      </p:sp>
      <p:sp>
        <p:nvSpPr>
          <p:cNvPr id="5" name="Text 3"/>
          <p:cNvSpPr/>
          <p:nvPr/>
        </p:nvSpPr>
        <p:spPr>
          <a:xfrm>
            <a:off x="1244569" y="2759770"/>
            <a:ext cx="5323647"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12261A"/>
                </a:solidFill>
                <a:latin typeface="Albert Sans" pitchFamily="34" charset="0"/>
                <a:ea typeface="Albert Sans" pitchFamily="34" charset="-122"/>
                <a:cs typeface="Albert Sans" pitchFamily="34" charset="-120"/>
              </a:rPr>
              <a:t>“The rapid development of technology has significantly changed the way people communicate.”</a:t>
            </a:r>
            <a:endParaRPr lang="en-US" sz="1700" dirty="0"/>
          </a:p>
        </p:txBody>
      </p:sp>
      <p:sp>
        <p:nvSpPr>
          <p:cNvPr id="6" name="Shape 4"/>
          <p:cNvSpPr/>
          <p:nvPr/>
        </p:nvSpPr>
        <p:spPr>
          <a:xfrm>
            <a:off x="920727" y="2683570"/>
            <a:ext cx="28574" cy="756841"/>
          </a:xfrm>
          <a:prstGeom prst="roundRect">
            <a:avLst>
              <a:gd name="adj" fmla="val 50000"/>
            </a:avLst>
          </a:prstGeom>
          <a:solidFill>
            <a:srgbClr val="17813A"/>
          </a:solidFill>
          <a:ln/>
        </p:spPr>
      </p:sp>
      <p:sp>
        <p:nvSpPr>
          <p:cNvPr id="7" name="Text 5"/>
          <p:cNvSpPr/>
          <p:nvPr/>
        </p:nvSpPr>
        <p:spPr>
          <a:xfrm>
            <a:off x="1119736" y="3784501"/>
            <a:ext cx="5444294"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CORE MEANING</a:t>
            </a:r>
            <a:endParaRPr lang="en-US" sz="1200" dirty="0"/>
          </a:p>
        </p:txBody>
      </p:sp>
      <p:sp>
        <p:nvSpPr>
          <p:cNvPr id="8" name="Text 6"/>
          <p:cNvSpPr/>
          <p:nvPr/>
        </p:nvSpPr>
        <p:spPr>
          <a:xfrm>
            <a:off x="1123922" y="4121051"/>
            <a:ext cx="5241099" cy="711200"/>
          </a:xfrm>
          <a:prstGeom prst="rect">
            <a:avLst/>
          </a:prstGeom>
          <a:noFill/>
          <a:ln/>
        </p:spPr>
        <p:txBody>
          <a:bodyPr wrap="square" lIns="0" tIns="0" rIns="0" bIns="0" rtlCol="0" anchor="t">
            <a:normAutofit/>
          </a:bodyPr>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Reveal: “The development of technology has changed communication.”</a:t>
            </a:r>
            <a:endParaRPr lang="en-US" sz="2000" dirty="0"/>
          </a:p>
        </p:txBody>
      </p:sp>
      <p:sp>
        <p:nvSpPr>
          <p:cNvPr id="9" name="Text 7"/>
          <p:cNvSpPr/>
          <p:nvPr/>
        </p:nvSpPr>
        <p:spPr>
          <a:xfrm>
            <a:off x="7025305" y="2752130"/>
            <a:ext cx="817740" cy="215900"/>
          </a:xfrm>
          <a:prstGeom prst="rect">
            <a:avLst/>
          </a:prstGeom>
          <a:noFill/>
          <a:ln/>
        </p:spPr>
        <p:txBody>
          <a:bodyPr wrap="none" lIns="0" tIns="0" rIns="0" bIns="0" rtlCol="0" anchor="t"/>
          <a:lstStyle/>
          <a:p>
            <a:pPr marL="0" indent="0" algn="l">
              <a:lnSpc>
                <a:spcPct val="83000"/>
              </a:lnSpc>
              <a:buNone/>
            </a:pPr>
            <a:r>
              <a:rPr lang="en-US" sz="1700" dirty="0">
                <a:solidFill>
                  <a:srgbClr val="17813A"/>
                </a:solidFill>
                <a:latin typeface="Albert Sans SemiBold" pitchFamily="34" charset="0"/>
                <a:ea typeface="Albert Sans SemiBold" pitchFamily="34" charset="-122"/>
                <a:cs typeface="Albert Sans SemiBold" pitchFamily="34" charset="-120"/>
              </a:rPr>
              <a:t>01</a:t>
            </a:r>
            <a:endParaRPr lang="en-US" sz="1700" dirty="0"/>
          </a:p>
        </p:txBody>
      </p:sp>
      <p:sp>
        <p:nvSpPr>
          <p:cNvPr id="10" name="Text 8"/>
          <p:cNvSpPr/>
          <p:nvPr/>
        </p:nvSpPr>
        <p:spPr>
          <a:xfrm>
            <a:off x="7360458" y="2708970"/>
            <a:ext cx="4221652" cy="302220"/>
          </a:xfrm>
          <a:prstGeom prst="rect">
            <a:avLst/>
          </a:prstGeom>
          <a:noFill/>
          <a:ln/>
        </p:spPr>
        <p:txBody>
          <a:bodyPr wrap="none" lIns="0" tIns="0" rIns="0" bIns="0" rtlCol="0" anchor="t"/>
          <a:lstStyle/>
          <a:p>
            <a:pPr marL="0" indent="0" algn="l">
              <a:lnSpc>
                <a:spcPct val="117000"/>
              </a:lnSpc>
              <a:buNone/>
            </a:pPr>
            <a:r>
              <a:rPr lang="en-US" sz="1700" dirty="0">
                <a:solidFill>
                  <a:srgbClr val="12261A"/>
                </a:solidFill>
                <a:latin typeface="Albert Sans" pitchFamily="34" charset="0"/>
                <a:ea typeface="Albert Sans" pitchFamily="34" charset="-122"/>
                <a:cs typeface="Albert Sans" pitchFamily="34" charset="-120"/>
              </a:rPr>
              <a:t>What is this sentence about?</a:t>
            </a:r>
            <a:endParaRPr lang="en-US" sz="1700" dirty="0"/>
          </a:p>
        </p:txBody>
      </p:sp>
      <p:sp>
        <p:nvSpPr>
          <p:cNvPr id="11" name="Text 9"/>
          <p:cNvSpPr/>
          <p:nvPr/>
        </p:nvSpPr>
        <p:spPr>
          <a:xfrm>
            <a:off x="7025305" y="3289895"/>
            <a:ext cx="876278" cy="215900"/>
          </a:xfrm>
          <a:prstGeom prst="rect">
            <a:avLst/>
          </a:prstGeom>
          <a:noFill/>
          <a:ln/>
        </p:spPr>
        <p:txBody>
          <a:bodyPr wrap="none" lIns="0" tIns="0" rIns="0" bIns="0" rtlCol="0" anchor="t"/>
          <a:lstStyle/>
          <a:p>
            <a:pPr marL="0" indent="0" algn="l">
              <a:lnSpc>
                <a:spcPct val="83000"/>
              </a:lnSpc>
              <a:buNone/>
            </a:pPr>
            <a:r>
              <a:rPr lang="en-US" sz="1700" dirty="0">
                <a:solidFill>
                  <a:srgbClr val="17813A"/>
                </a:solidFill>
                <a:latin typeface="Albert Sans SemiBold" pitchFamily="34" charset="0"/>
                <a:ea typeface="Albert Sans SemiBold" pitchFamily="34" charset="-122"/>
                <a:cs typeface="Albert Sans SemiBold" pitchFamily="34" charset="-120"/>
              </a:rPr>
              <a:t>02</a:t>
            </a:r>
            <a:endParaRPr lang="en-US" sz="1700" dirty="0"/>
          </a:p>
        </p:txBody>
      </p:sp>
      <p:sp>
        <p:nvSpPr>
          <p:cNvPr id="12" name="Text 10"/>
          <p:cNvSpPr/>
          <p:nvPr/>
        </p:nvSpPr>
        <p:spPr>
          <a:xfrm>
            <a:off x="7418996" y="3246735"/>
            <a:ext cx="4163115" cy="302220"/>
          </a:xfrm>
          <a:prstGeom prst="rect">
            <a:avLst/>
          </a:prstGeom>
          <a:noFill/>
          <a:ln/>
        </p:spPr>
        <p:txBody>
          <a:bodyPr wrap="none" lIns="0" tIns="0" rIns="0" bIns="0" rtlCol="0" anchor="t"/>
          <a:lstStyle/>
          <a:p>
            <a:pPr marL="0" indent="0" algn="l">
              <a:lnSpc>
                <a:spcPct val="117000"/>
              </a:lnSpc>
              <a:buNone/>
            </a:pPr>
            <a:r>
              <a:rPr lang="en-US" sz="1700" dirty="0">
                <a:solidFill>
                  <a:srgbClr val="12261A"/>
                </a:solidFill>
                <a:latin typeface="Albert Sans" pitchFamily="34" charset="0"/>
                <a:ea typeface="Albert Sans" pitchFamily="34" charset="-122"/>
                <a:cs typeface="Albert Sans" pitchFamily="34" charset="-120"/>
              </a:rPr>
              <a:t>Which words helped you?</a:t>
            </a:r>
            <a:endParaRPr lang="en-US" sz="1700" dirty="0"/>
          </a:p>
        </p:txBody>
      </p:sp>
      <p:sp>
        <p:nvSpPr>
          <p:cNvPr id="13" name="Text 11"/>
          <p:cNvSpPr/>
          <p:nvPr/>
        </p:nvSpPr>
        <p:spPr>
          <a:xfrm>
            <a:off x="7025305" y="3827661"/>
            <a:ext cx="876675" cy="215900"/>
          </a:xfrm>
          <a:prstGeom prst="rect">
            <a:avLst/>
          </a:prstGeom>
          <a:noFill/>
          <a:ln/>
        </p:spPr>
        <p:txBody>
          <a:bodyPr wrap="none" lIns="0" tIns="0" rIns="0" bIns="0" rtlCol="0" anchor="t"/>
          <a:lstStyle/>
          <a:p>
            <a:pPr marL="0" indent="0" algn="l">
              <a:lnSpc>
                <a:spcPct val="83000"/>
              </a:lnSpc>
              <a:buNone/>
            </a:pPr>
            <a:r>
              <a:rPr lang="en-US" sz="1700" dirty="0">
                <a:solidFill>
                  <a:srgbClr val="17813A"/>
                </a:solidFill>
                <a:latin typeface="Albert Sans SemiBold" pitchFamily="34" charset="0"/>
                <a:ea typeface="Albert Sans SemiBold" pitchFamily="34" charset="-122"/>
                <a:cs typeface="Albert Sans SemiBold" pitchFamily="34" charset="-120"/>
              </a:rPr>
              <a:t>03</a:t>
            </a:r>
            <a:endParaRPr lang="en-US" sz="1700" dirty="0"/>
          </a:p>
        </p:txBody>
      </p:sp>
      <p:sp>
        <p:nvSpPr>
          <p:cNvPr id="14" name="Text 12"/>
          <p:cNvSpPr/>
          <p:nvPr/>
        </p:nvSpPr>
        <p:spPr>
          <a:xfrm>
            <a:off x="7419393" y="3784501"/>
            <a:ext cx="4162718" cy="302220"/>
          </a:xfrm>
          <a:prstGeom prst="rect">
            <a:avLst/>
          </a:prstGeom>
          <a:noFill/>
          <a:ln/>
        </p:spPr>
        <p:txBody>
          <a:bodyPr wrap="none" lIns="0" tIns="0" rIns="0" bIns="0" rtlCol="0" anchor="t"/>
          <a:lstStyle/>
          <a:p>
            <a:pPr marL="0" indent="0" algn="l">
              <a:lnSpc>
                <a:spcPct val="117000"/>
              </a:lnSpc>
              <a:buNone/>
            </a:pPr>
            <a:r>
              <a:rPr lang="en-US" sz="1700" dirty="0">
                <a:solidFill>
                  <a:srgbClr val="12261A"/>
                </a:solidFill>
                <a:latin typeface="Albert Sans" pitchFamily="34" charset="0"/>
                <a:ea typeface="Albert Sans" pitchFamily="34" charset="-122"/>
                <a:cs typeface="Albert Sans" pitchFamily="34" charset="-120"/>
              </a:rPr>
              <a:t>Did you understand every word?</a:t>
            </a:r>
            <a:endParaRPr lang="en-US" sz="1700" dirty="0"/>
          </a:p>
        </p:txBody>
      </p:sp>
      <p:sp>
        <p:nvSpPr>
          <p:cNvPr id="15" name="Text 13"/>
          <p:cNvSpPr/>
          <p:nvPr/>
        </p:nvSpPr>
        <p:spPr>
          <a:xfrm>
            <a:off x="7025305" y="4365526"/>
            <a:ext cx="889176" cy="215900"/>
          </a:xfrm>
          <a:prstGeom prst="rect">
            <a:avLst/>
          </a:prstGeom>
          <a:noFill/>
          <a:ln/>
        </p:spPr>
        <p:txBody>
          <a:bodyPr wrap="none" lIns="0" tIns="0" rIns="0" bIns="0" rtlCol="0" anchor="t"/>
          <a:lstStyle/>
          <a:p>
            <a:pPr marL="0" indent="0" algn="l">
              <a:lnSpc>
                <a:spcPct val="83000"/>
              </a:lnSpc>
              <a:buNone/>
            </a:pPr>
            <a:r>
              <a:rPr lang="en-US" sz="1700" dirty="0">
                <a:solidFill>
                  <a:srgbClr val="17813A"/>
                </a:solidFill>
                <a:latin typeface="Albert Sans SemiBold" pitchFamily="34" charset="0"/>
                <a:ea typeface="Albert Sans SemiBold" pitchFamily="34" charset="-122"/>
                <a:cs typeface="Albert Sans SemiBold" pitchFamily="34" charset="-120"/>
              </a:rPr>
              <a:t>04</a:t>
            </a:r>
            <a:endParaRPr lang="en-US" sz="1700" dirty="0"/>
          </a:p>
        </p:txBody>
      </p:sp>
      <p:sp>
        <p:nvSpPr>
          <p:cNvPr id="16" name="Text 14"/>
          <p:cNvSpPr/>
          <p:nvPr/>
        </p:nvSpPr>
        <p:spPr>
          <a:xfrm>
            <a:off x="7431894" y="4322366"/>
            <a:ext cx="4150216"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12261A"/>
                </a:solidFill>
                <a:latin typeface="Albert Sans" pitchFamily="34" charset="0"/>
                <a:ea typeface="Albert Sans" pitchFamily="34" charset="-122"/>
                <a:cs typeface="Albert Sans" pitchFamily="34" charset="-120"/>
              </a:rPr>
              <a:t>Can you understand the general meaning without knowing every word?</a:t>
            </a:r>
            <a:endParaRPr lang="en-US" sz="1700" dirty="0"/>
          </a:p>
        </p:txBody>
      </p:sp>
      <p:sp>
        <p:nvSpPr>
          <p:cNvPr id="17" name="Shape 15"/>
          <p:cNvSpPr/>
          <p:nvPr/>
        </p:nvSpPr>
        <p:spPr>
          <a:xfrm>
            <a:off x="7025305" y="3138785"/>
            <a:ext cx="4556805" cy="12700"/>
          </a:xfrm>
          <a:prstGeom prst="rect">
            <a:avLst/>
          </a:prstGeom>
          <a:solidFill>
            <a:srgbClr val="17813A"/>
          </a:solidFill>
          <a:ln/>
        </p:spPr>
      </p:sp>
      <p:sp>
        <p:nvSpPr>
          <p:cNvPr id="18" name="Shape 16"/>
          <p:cNvSpPr/>
          <p:nvPr/>
        </p:nvSpPr>
        <p:spPr>
          <a:xfrm>
            <a:off x="7025305" y="3676551"/>
            <a:ext cx="4556805" cy="12700"/>
          </a:xfrm>
          <a:prstGeom prst="rect">
            <a:avLst/>
          </a:prstGeom>
          <a:solidFill>
            <a:srgbClr val="17813A"/>
          </a:solidFill>
          <a:ln/>
        </p:spPr>
      </p:sp>
      <p:sp>
        <p:nvSpPr>
          <p:cNvPr id="19" name="Shape 17"/>
          <p:cNvSpPr/>
          <p:nvPr/>
        </p:nvSpPr>
        <p:spPr>
          <a:xfrm>
            <a:off x="7025305" y="4214416"/>
            <a:ext cx="4556805" cy="12700"/>
          </a:xfrm>
          <a:prstGeom prst="rect">
            <a:avLst/>
          </a:prstGeom>
          <a:solidFill>
            <a:srgbClr val="17813A"/>
          </a:solid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8" grpId="0" animBg="1"/>
      <p:bldP spid="10" grpId="0" animBg="1"/>
      <p:bldP spid="12" grpId="0" animBg="1"/>
      <p:bldP spid="1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0972526" cy="457696"/>
          </a:xfrm>
          <a:prstGeom prst="rect">
            <a:avLst/>
          </a:prstGeom>
          <a:noFill/>
          <a:ln/>
        </p:spPr>
        <p:txBody>
          <a:bodyPr wrap="none" lIns="0" tIns="0" rIns="0" bIns="0" rtlCol="0" anchor="t"/>
          <a:lstStyle/>
          <a:p>
            <a:pPr marL="0" indent="0" algn="l">
              <a:lnSpc>
                <a:spcPct val="88000"/>
              </a:lnSpc>
              <a:buNone/>
            </a:pPr>
            <a:r>
              <a:rPr lang="en-US" sz="3400" kern="100" spc="-41" dirty="0">
                <a:solidFill>
                  <a:srgbClr val="12261A"/>
                </a:solidFill>
                <a:latin typeface="Hedvig Letters Serif" pitchFamily="34" charset="0"/>
                <a:ea typeface="Hedvig Letters Serif" pitchFamily="34" charset="-122"/>
                <a:cs typeface="Hedvig Letters Serif" pitchFamily="34" charset="-120"/>
              </a:rPr>
              <a:t>Step 1: Find the TOPIC</a:t>
            </a:r>
            <a:endParaRPr lang="en-US" sz="3400" dirty="0"/>
          </a:p>
        </p:txBody>
      </p:sp>
      <p:sp>
        <p:nvSpPr>
          <p:cNvPr id="3" name="Shape 1"/>
          <p:cNvSpPr/>
          <p:nvPr/>
        </p:nvSpPr>
        <p:spPr>
          <a:xfrm>
            <a:off x="609585" y="1335584"/>
            <a:ext cx="609585" cy="31651"/>
          </a:xfrm>
          <a:prstGeom prst="roundRect">
            <a:avLst>
              <a:gd name="adj" fmla="val 49998"/>
            </a:avLst>
          </a:prstGeom>
          <a:solidFill>
            <a:srgbClr val="17813A"/>
          </a:solidFill>
          <a:ln/>
        </p:spPr>
      </p:sp>
      <p:sp>
        <p:nvSpPr>
          <p:cNvPr id="4" name="Text 2"/>
          <p:cNvSpPr/>
          <p:nvPr/>
        </p:nvSpPr>
        <p:spPr>
          <a:xfrm>
            <a:off x="609585" y="2242443"/>
            <a:ext cx="4731921" cy="355600"/>
          </a:xfrm>
          <a:prstGeom prst="rect">
            <a:avLst/>
          </a:prstGeom>
          <a:noFill/>
          <a:ln/>
        </p:spPr>
        <p:txBody>
          <a:bodyPr wrap="none" lIns="0" tIns="0" rIns="0" bIns="0" rtlCol="0" anchor="t"/>
          <a:lstStyle/>
          <a:p>
            <a:pPr marL="0" indent="0" algn="l">
              <a:lnSpc>
                <a:spcPct val="117000"/>
              </a:lnSpc>
              <a:buNone/>
            </a:pPr>
            <a:r>
              <a:rPr lang="en-US" sz="2000" b="1" dirty="0">
                <a:solidFill>
                  <a:srgbClr val="12261A"/>
                </a:solidFill>
                <a:latin typeface="Albert Sans Bold" pitchFamily="34" charset="0"/>
                <a:ea typeface="Albert Sans Bold" pitchFamily="34" charset="-122"/>
                <a:cs typeface="Albert Sans Bold" pitchFamily="34" charset="-120"/>
              </a:rPr>
              <a:t>The topic is what the text is about.</a:t>
            </a:r>
            <a:endParaRPr lang="en-US" sz="2000" dirty="0"/>
          </a:p>
        </p:txBody>
      </p:sp>
      <p:sp>
        <p:nvSpPr>
          <p:cNvPr id="5" name="Text 3"/>
          <p:cNvSpPr/>
          <p:nvPr/>
        </p:nvSpPr>
        <p:spPr>
          <a:xfrm>
            <a:off x="609585" y="2725043"/>
            <a:ext cx="4731921" cy="302220"/>
          </a:xfrm>
          <a:prstGeom prst="rect">
            <a:avLst/>
          </a:prstGeom>
          <a:noFill/>
          <a:ln/>
        </p:spPr>
        <p:txBody>
          <a:bodyPr wrap="none" lIns="0" tIns="0" rIns="0" bIns="0" rtlCol="0" anchor="t"/>
          <a:lstStyle/>
          <a:p>
            <a:pPr marL="0" indent="0" algn="l">
              <a:lnSpc>
                <a:spcPct val="117000"/>
              </a:lnSpc>
              <a:buNone/>
            </a:pPr>
            <a:r>
              <a:rPr lang="en-US" sz="1700" dirty="0">
                <a:solidFill>
                  <a:srgbClr val="12261A"/>
                </a:solidFill>
                <a:latin typeface="Albert Sans" pitchFamily="34" charset="0"/>
                <a:ea typeface="Albert Sans" pitchFamily="34" charset="-122"/>
                <a:cs typeface="Albert Sans" pitchFamily="34" charset="-120"/>
              </a:rPr>
              <a:t>The topic is usually a word or short phrase.</a:t>
            </a:r>
            <a:endParaRPr lang="en-US" sz="1700" dirty="0"/>
          </a:p>
        </p:txBody>
      </p:sp>
      <p:sp>
        <p:nvSpPr>
          <p:cNvPr id="6" name="Shape 4"/>
          <p:cNvSpPr/>
          <p:nvPr/>
        </p:nvSpPr>
        <p:spPr>
          <a:xfrm>
            <a:off x="609585" y="3205063"/>
            <a:ext cx="2289713" cy="1130895"/>
          </a:xfrm>
          <a:prstGeom prst="rect">
            <a:avLst/>
          </a:prstGeom>
          <a:noFill/>
          <a:ln w="6350">
            <a:solidFill>
              <a:srgbClr val="17813A"/>
            </a:solidFill>
            <a:prstDash val="solid"/>
          </a:ln>
        </p:spPr>
      </p:sp>
      <p:sp>
        <p:nvSpPr>
          <p:cNvPr id="7" name="Shape 5"/>
          <p:cNvSpPr/>
          <p:nvPr/>
        </p:nvSpPr>
        <p:spPr>
          <a:xfrm>
            <a:off x="615935" y="3211413"/>
            <a:ext cx="2277013" cy="647700"/>
          </a:xfrm>
          <a:prstGeom prst="rect">
            <a:avLst/>
          </a:prstGeom>
          <a:solidFill>
            <a:srgbClr val="D4F7DF"/>
          </a:solidFill>
          <a:ln/>
        </p:spPr>
      </p:sp>
      <p:sp>
        <p:nvSpPr>
          <p:cNvPr id="8" name="Text 6"/>
          <p:cNvSpPr/>
          <p:nvPr/>
        </p:nvSpPr>
        <p:spPr>
          <a:xfrm>
            <a:off x="1702055" y="3373338"/>
            <a:ext cx="714258" cy="323850"/>
          </a:xfrm>
          <a:prstGeom prst="rect">
            <a:avLst/>
          </a:prstGeom>
          <a:noFill/>
          <a:ln/>
        </p:spPr>
        <p:txBody>
          <a:bodyPr wrap="none" lIns="0" tIns="0" rIns="0" bIns="0" rtlCol="0" anchor="t"/>
          <a:lstStyle/>
          <a:p>
            <a:pPr marL="0" indent="0" algn="l">
              <a:lnSpc>
                <a:spcPct val="83000"/>
              </a:lnSpc>
              <a:buNone/>
            </a:pPr>
            <a:r>
              <a:rPr lang="en-US" sz="2550" dirty="0">
                <a:solidFill>
                  <a:srgbClr val="12261A"/>
                </a:solidFill>
                <a:latin typeface="Albert Sans SemiBold" pitchFamily="34" charset="0"/>
                <a:ea typeface="Albert Sans SemiBold" pitchFamily="34" charset="-122"/>
                <a:cs typeface="Albert Sans SemiBold" pitchFamily="34" charset="-120"/>
              </a:rPr>
              <a:t>1</a:t>
            </a:r>
            <a:endParaRPr lang="en-US" sz="2550" dirty="0"/>
          </a:p>
        </p:txBody>
      </p:sp>
      <p:sp>
        <p:nvSpPr>
          <p:cNvPr id="9" name="Text 7"/>
          <p:cNvSpPr/>
          <p:nvPr/>
        </p:nvSpPr>
        <p:spPr>
          <a:xfrm>
            <a:off x="742931" y="3944838"/>
            <a:ext cx="2156366" cy="257770"/>
          </a:xfrm>
          <a:prstGeom prst="rect">
            <a:avLst/>
          </a:prstGeom>
          <a:noFill/>
          <a:ln/>
        </p:spPr>
        <p:txBody>
          <a:bodyPr wrap="none" lIns="0" tIns="0" rIns="0" bIns="0" rtlCol="0" anchor="t"/>
          <a:lstStyle/>
          <a:p>
            <a:pPr marL="0" indent="0" algn="l">
              <a:lnSpc>
                <a:spcPct val="117000"/>
              </a:lnSpc>
              <a:buNone/>
            </a:pPr>
            <a:r>
              <a:rPr lang="en-US" sz="1450" dirty="0">
                <a:solidFill>
                  <a:srgbClr val="12261A"/>
                </a:solidFill>
                <a:latin typeface="Albert Sans" pitchFamily="34" charset="0"/>
                <a:ea typeface="Albert Sans" pitchFamily="34" charset="-122"/>
                <a:cs typeface="Albert Sans" pitchFamily="34" charset="-120"/>
              </a:rPr>
              <a:t>Online education</a:t>
            </a:r>
            <a:endParaRPr lang="en-US" sz="1450" dirty="0"/>
          </a:p>
        </p:txBody>
      </p:sp>
      <p:sp>
        <p:nvSpPr>
          <p:cNvPr id="10" name="Shape 8"/>
          <p:cNvSpPr/>
          <p:nvPr/>
        </p:nvSpPr>
        <p:spPr>
          <a:xfrm>
            <a:off x="3051694" y="3205063"/>
            <a:ext cx="2289812" cy="1130895"/>
          </a:xfrm>
          <a:prstGeom prst="rect">
            <a:avLst/>
          </a:prstGeom>
          <a:noFill/>
          <a:ln w="6350">
            <a:solidFill>
              <a:srgbClr val="17813A"/>
            </a:solidFill>
            <a:prstDash val="solid"/>
          </a:ln>
        </p:spPr>
      </p:sp>
      <p:sp>
        <p:nvSpPr>
          <p:cNvPr id="11" name="Shape 9"/>
          <p:cNvSpPr/>
          <p:nvPr/>
        </p:nvSpPr>
        <p:spPr>
          <a:xfrm>
            <a:off x="3058044" y="3211413"/>
            <a:ext cx="2277113" cy="647700"/>
          </a:xfrm>
          <a:prstGeom prst="rect">
            <a:avLst/>
          </a:prstGeom>
          <a:solidFill>
            <a:srgbClr val="D4F7DF"/>
          </a:solidFill>
          <a:ln/>
        </p:spPr>
      </p:sp>
      <p:sp>
        <p:nvSpPr>
          <p:cNvPr id="12" name="Text 10"/>
          <p:cNvSpPr/>
          <p:nvPr/>
        </p:nvSpPr>
        <p:spPr>
          <a:xfrm>
            <a:off x="4100410" y="3373338"/>
            <a:ext cx="801965" cy="323850"/>
          </a:xfrm>
          <a:prstGeom prst="rect">
            <a:avLst/>
          </a:prstGeom>
          <a:noFill/>
          <a:ln/>
        </p:spPr>
        <p:txBody>
          <a:bodyPr wrap="none" lIns="0" tIns="0" rIns="0" bIns="0" rtlCol="0" anchor="t"/>
          <a:lstStyle/>
          <a:p>
            <a:pPr marL="0" indent="0" algn="l">
              <a:lnSpc>
                <a:spcPct val="83000"/>
              </a:lnSpc>
              <a:buNone/>
            </a:pPr>
            <a:r>
              <a:rPr lang="en-US" sz="2550" dirty="0">
                <a:solidFill>
                  <a:srgbClr val="12261A"/>
                </a:solidFill>
                <a:latin typeface="Albert Sans SemiBold" pitchFamily="34" charset="0"/>
                <a:ea typeface="Albert Sans SemiBold" pitchFamily="34" charset="-122"/>
                <a:cs typeface="Albert Sans SemiBold" pitchFamily="34" charset="-120"/>
              </a:rPr>
              <a:t>2</a:t>
            </a:r>
            <a:endParaRPr lang="en-US" sz="2550" dirty="0"/>
          </a:p>
        </p:txBody>
      </p:sp>
      <p:sp>
        <p:nvSpPr>
          <p:cNvPr id="13" name="Text 11"/>
          <p:cNvSpPr/>
          <p:nvPr/>
        </p:nvSpPr>
        <p:spPr>
          <a:xfrm>
            <a:off x="3185041" y="3944838"/>
            <a:ext cx="2156466" cy="257770"/>
          </a:xfrm>
          <a:prstGeom prst="rect">
            <a:avLst/>
          </a:prstGeom>
          <a:noFill/>
          <a:ln/>
        </p:spPr>
        <p:txBody>
          <a:bodyPr wrap="none" lIns="0" tIns="0" rIns="0" bIns="0" rtlCol="0" anchor="t"/>
          <a:lstStyle/>
          <a:p>
            <a:pPr marL="0" indent="0" algn="l">
              <a:lnSpc>
                <a:spcPct val="117000"/>
              </a:lnSpc>
              <a:buNone/>
            </a:pPr>
            <a:r>
              <a:rPr lang="en-US" sz="1450" dirty="0">
                <a:solidFill>
                  <a:srgbClr val="12261A"/>
                </a:solidFill>
                <a:latin typeface="Albert Sans" pitchFamily="34" charset="0"/>
                <a:ea typeface="Albert Sans" pitchFamily="34" charset="-122"/>
                <a:cs typeface="Albert Sans" pitchFamily="34" charset="-120"/>
              </a:rPr>
              <a:t>Climate change</a:t>
            </a:r>
            <a:endParaRPr lang="en-US" sz="1450" dirty="0"/>
          </a:p>
        </p:txBody>
      </p:sp>
      <p:sp>
        <p:nvSpPr>
          <p:cNvPr id="14" name="Shape 12"/>
          <p:cNvSpPr/>
          <p:nvPr/>
        </p:nvSpPr>
        <p:spPr>
          <a:xfrm>
            <a:off x="609585" y="4488359"/>
            <a:ext cx="2289713" cy="1130895"/>
          </a:xfrm>
          <a:prstGeom prst="rect">
            <a:avLst/>
          </a:prstGeom>
          <a:noFill/>
          <a:ln w="6350">
            <a:solidFill>
              <a:srgbClr val="17813A"/>
            </a:solidFill>
            <a:prstDash val="solid"/>
          </a:ln>
        </p:spPr>
      </p:sp>
      <p:sp>
        <p:nvSpPr>
          <p:cNvPr id="15" name="Shape 13"/>
          <p:cNvSpPr/>
          <p:nvPr/>
        </p:nvSpPr>
        <p:spPr>
          <a:xfrm>
            <a:off x="615935" y="4494709"/>
            <a:ext cx="2277013" cy="647700"/>
          </a:xfrm>
          <a:prstGeom prst="rect">
            <a:avLst/>
          </a:prstGeom>
          <a:solidFill>
            <a:srgbClr val="D4F7DF"/>
          </a:solidFill>
          <a:ln/>
        </p:spPr>
      </p:sp>
      <p:sp>
        <p:nvSpPr>
          <p:cNvPr id="16" name="Text 14"/>
          <p:cNvSpPr/>
          <p:nvPr/>
        </p:nvSpPr>
        <p:spPr>
          <a:xfrm>
            <a:off x="1657904" y="4656634"/>
            <a:ext cx="802660" cy="323850"/>
          </a:xfrm>
          <a:prstGeom prst="rect">
            <a:avLst/>
          </a:prstGeom>
          <a:noFill/>
          <a:ln/>
        </p:spPr>
        <p:txBody>
          <a:bodyPr wrap="none" lIns="0" tIns="0" rIns="0" bIns="0" rtlCol="0" anchor="t"/>
          <a:lstStyle/>
          <a:p>
            <a:pPr marL="0" indent="0" algn="l">
              <a:lnSpc>
                <a:spcPct val="83000"/>
              </a:lnSpc>
              <a:buNone/>
            </a:pPr>
            <a:r>
              <a:rPr lang="en-US" sz="2550" dirty="0">
                <a:solidFill>
                  <a:srgbClr val="12261A"/>
                </a:solidFill>
                <a:latin typeface="Albert Sans SemiBold" pitchFamily="34" charset="0"/>
                <a:ea typeface="Albert Sans SemiBold" pitchFamily="34" charset="-122"/>
                <a:cs typeface="Albert Sans SemiBold" pitchFamily="34" charset="-120"/>
              </a:rPr>
              <a:t>3</a:t>
            </a:r>
            <a:endParaRPr lang="en-US" sz="2550" dirty="0"/>
          </a:p>
        </p:txBody>
      </p:sp>
      <p:sp>
        <p:nvSpPr>
          <p:cNvPr id="17" name="Text 15"/>
          <p:cNvSpPr/>
          <p:nvPr/>
        </p:nvSpPr>
        <p:spPr>
          <a:xfrm>
            <a:off x="742931" y="5228134"/>
            <a:ext cx="2156366" cy="257770"/>
          </a:xfrm>
          <a:prstGeom prst="rect">
            <a:avLst/>
          </a:prstGeom>
          <a:noFill/>
          <a:ln/>
        </p:spPr>
        <p:txBody>
          <a:bodyPr wrap="none" lIns="0" tIns="0" rIns="0" bIns="0" rtlCol="0" anchor="t"/>
          <a:lstStyle/>
          <a:p>
            <a:pPr marL="0" indent="0" algn="l">
              <a:lnSpc>
                <a:spcPct val="117000"/>
              </a:lnSpc>
              <a:buNone/>
            </a:pPr>
            <a:r>
              <a:rPr lang="en-US" sz="1450" dirty="0">
                <a:solidFill>
                  <a:srgbClr val="12261A"/>
                </a:solidFill>
                <a:latin typeface="Albert Sans" pitchFamily="34" charset="0"/>
                <a:ea typeface="Albert Sans" pitchFamily="34" charset="-122"/>
                <a:cs typeface="Albert Sans" pitchFamily="34" charset="-120"/>
              </a:rPr>
              <a:t>Social media</a:t>
            </a:r>
            <a:endParaRPr lang="en-US" sz="1450" dirty="0"/>
          </a:p>
        </p:txBody>
      </p:sp>
      <p:sp>
        <p:nvSpPr>
          <p:cNvPr id="18" name="Shape 16"/>
          <p:cNvSpPr/>
          <p:nvPr/>
        </p:nvSpPr>
        <p:spPr>
          <a:xfrm>
            <a:off x="3051694" y="4488359"/>
            <a:ext cx="2289812" cy="1130895"/>
          </a:xfrm>
          <a:prstGeom prst="rect">
            <a:avLst/>
          </a:prstGeom>
          <a:noFill/>
          <a:ln w="6350">
            <a:solidFill>
              <a:srgbClr val="17813A"/>
            </a:solidFill>
            <a:prstDash val="solid"/>
          </a:ln>
        </p:spPr>
      </p:sp>
      <p:sp>
        <p:nvSpPr>
          <p:cNvPr id="19" name="Shape 17"/>
          <p:cNvSpPr/>
          <p:nvPr/>
        </p:nvSpPr>
        <p:spPr>
          <a:xfrm>
            <a:off x="3058044" y="4494709"/>
            <a:ext cx="2277113" cy="647700"/>
          </a:xfrm>
          <a:prstGeom prst="rect">
            <a:avLst/>
          </a:prstGeom>
          <a:solidFill>
            <a:srgbClr val="D4F7DF"/>
          </a:solidFill>
          <a:ln/>
        </p:spPr>
      </p:sp>
      <p:sp>
        <p:nvSpPr>
          <p:cNvPr id="20" name="Text 18"/>
          <p:cNvSpPr/>
          <p:nvPr/>
        </p:nvSpPr>
        <p:spPr>
          <a:xfrm>
            <a:off x="4090687" y="4656634"/>
            <a:ext cx="821411" cy="323850"/>
          </a:xfrm>
          <a:prstGeom prst="rect">
            <a:avLst/>
          </a:prstGeom>
          <a:noFill/>
          <a:ln/>
        </p:spPr>
        <p:txBody>
          <a:bodyPr wrap="none" lIns="0" tIns="0" rIns="0" bIns="0" rtlCol="0" anchor="t"/>
          <a:lstStyle/>
          <a:p>
            <a:pPr marL="0" indent="0" algn="l">
              <a:lnSpc>
                <a:spcPct val="83000"/>
              </a:lnSpc>
              <a:buNone/>
            </a:pPr>
            <a:r>
              <a:rPr lang="en-US" sz="2550" dirty="0">
                <a:solidFill>
                  <a:srgbClr val="12261A"/>
                </a:solidFill>
                <a:latin typeface="Albert Sans SemiBold" pitchFamily="34" charset="0"/>
                <a:ea typeface="Albert Sans SemiBold" pitchFamily="34" charset="-122"/>
                <a:cs typeface="Albert Sans SemiBold" pitchFamily="34" charset="-120"/>
              </a:rPr>
              <a:t>4</a:t>
            </a:r>
            <a:endParaRPr lang="en-US" sz="2550" dirty="0"/>
          </a:p>
        </p:txBody>
      </p:sp>
      <p:sp>
        <p:nvSpPr>
          <p:cNvPr id="21" name="Text 19"/>
          <p:cNvSpPr/>
          <p:nvPr/>
        </p:nvSpPr>
        <p:spPr>
          <a:xfrm>
            <a:off x="3185041" y="5228134"/>
            <a:ext cx="2156466" cy="257770"/>
          </a:xfrm>
          <a:prstGeom prst="rect">
            <a:avLst/>
          </a:prstGeom>
          <a:noFill/>
          <a:ln/>
        </p:spPr>
        <p:txBody>
          <a:bodyPr wrap="none" lIns="0" tIns="0" rIns="0" bIns="0" rtlCol="0" anchor="t"/>
          <a:lstStyle/>
          <a:p>
            <a:pPr marL="0" indent="0" algn="l">
              <a:lnSpc>
                <a:spcPct val="117000"/>
              </a:lnSpc>
              <a:buNone/>
            </a:pPr>
            <a:r>
              <a:rPr lang="en-US" sz="1450" dirty="0">
                <a:solidFill>
                  <a:srgbClr val="12261A"/>
                </a:solidFill>
                <a:latin typeface="Albert Sans" pitchFamily="34" charset="0"/>
                <a:ea typeface="Albert Sans" pitchFamily="34" charset="-122"/>
                <a:cs typeface="Albert Sans" pitchFamily="34" charset="-120"/>
              </a:rPr>
              <a:t>University students</a:t>
            </a:r>
            <a:endParaRPr lang="en-US" sz="1450" dirty="0"/>
          </a:p>
        </p:txBody>
      </p:sp>
      <p:sp>
        <p:nvSpPr>
          <p:cNvPr id="22" name="Shape 20"/>
          <p:cNvSpPr/>
          <p:nvPr/>
        </p:nvSpPr>
        <p:spPr>
          <a:xfrm>
            <a:off x="5798596" y="1613396"/>
            <a:ext cx="6350" cy="4635004"/>
          </a:xfrm>
          <a:prstGeom prst="rect">
            <a:avLst/>
          </a:prstGeom>
          <a:solidFill>
            <a:srgbClr val="17813A"/>
          </a:solidFill>
          <a:ln/>
        </p:spPr>
      </p:sp>
      <p:sp>
        <p:nvSpPr>
          <p:cNvPr id="23" name="Text 21"/>
          <p:cNvSpPr/>
          <p:nvPr/>
        </p:nvSpPr>
        <p:spPr>
          <a:xfrm>
            <a:off x="6109738" y="2338388"/>
            <a:ext cx="5472372"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MINI ACTIVITY</a:t>
            </a:r>
            <a:endParaRPr lang="en-US" sz="1200" dirty="0"/>
          </a:p>
        </p:txBody>
      </p:sp>
      <p:sp>
        <p:nvSpPr>
          <p:cNvPr id="24" name="Text 22"/>
          <p:cNvSpPr/>
          <p:nvPr/>
        </p:nvSpPr>
        <p:spPr>
          <a:xfrm>
            <a:off x="6433580" y="2739628"/>
            <a:ext cx="5148531"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12261A"/>
                </a:solidFill>
                <a:latin typeface="Albert Sans" pitchFamily="34" charset="0"/>
                <a:ea typeface="Albert Sans" pitchFamily="34" charset="-122"/>
                <a:cs typeface="Albert Sans" pitchFamily="34" charset="-120"/>
              </a:rPr>
              <a:t>“Many university students now use online platforms to attend lectures, submit assignments, and communicate with their teachers.”</a:t>
            </a:r>
            <a:endParaRPr lang="en-US" sz="1700" dirty="0"/>
          </a:p>
        </p:txBody>
      </p:sp>
      <p:sp>
        <p:nvSpPr>
          <p:cNvPr id="25" name="Shape 23"/>
          <p:cNvSpPr/>
          <p:nvPr/>
        </p:nvSpPr>
        <p:spPr>
          <a:xfrm>
            <a:off x="6109738" y="2663428"/>
            <a:ext cx="28574" cy="1059061"/>
          </a:xfrm>
          <a:prstGeom prst="roundRect">
            <a:avLst>
              <a:gd name="adj" fmla="val 50000"/>
            </a:avLst>
          </a:prstGeom>
          <a:solidFill>
            <a:srgbClr val="17813A"/>
          </a:solidFill>
          <a:ln/>
        </p:spPr>
      </p:sp>
      <p:sp>
        <p:nvSpPr>
          <p:cNvPr id="26" name="Text 24"/>
          <p:cNvSpPr/>
          <p:nvPr/>
        </p:nvSpPr>
        <p:spPr>
          <a:xfrm>
            <a:off x="6109738" y="3900289"/>
            <a:ext cx="5472372" cy="1193800"/>
          </a:xfrm>
          <a:prstGeom prst="rect">
            <a:avLst/>
          </a:prstGeom>
          <a:noFill/>
          <a:ln/>
        </p:spPr>
        <p:txBody>
          <a:bodyPr wrap="square" lIns="0" tIns="0" rIns="0" bIns="0" rtlCol="0" anchor="t"/>
          <a:lstStyle/>
          <a:p>
            <a:pPr marL="0" indent="0" algn="l">
              <a:lnSpc>
                <a:spcPct val="117000"/>
              </a:lnSpc>
              <a:spcAft>
                <a:spcPts val="950"/>
              </a:spcAft>
              <a:buNone/>
            </a:pPr>
            <a:r>
              <a:rPr lang="en-US" sz="2000" b="1" dirty="0">
                <a:solidFill>
                  <a:srgbClr val="12261A"/>
                </a:solidFill>
                <a:latin typeface="Albert Sans Bold" pitchFamily="34" charset="0"/>
                <a:ea typeface="Albert Sans Bold" pitchFamily="34" charset="-122"/>
                <a:cs typeface="Albert Sans Bold" pitchFamily="34" charset="-120"/>
              </a:rPr>
              <a:t>What is the topic?</a:t>
            </a:r>
            <a:endParaRPr lang="en-US" sz="2000" dirty="0"/>
          </a:p>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A. Teachers     </a:t>
            </a:r>
            <a:r>
              <a:rPr lang="en-US" sz="2000" b="1" dirty="0">
                <a:solidFill>
                  <a:srgbClr val="12261A"/>
                </a:solidFill>
                <a:latin typeface="Albert Sans Bold" pitchFamily="34" charset="0"/>
                <a:ea typeface="Albert Sans Bold" pitchFamily="34" charset="-122"/>
                <a:cs typeface="Albert Sans Bold" pitchFamily="34" charset="-120"/>
              </a:rPr>
              <a:t>B. Online education</a:t>
            </a:r>
            <a:r>
              <a:rPr lang="en-US" sz="2000" dirty="0">
                <a:solidFill>
                  <a:srgbClr val="12261A"/>
                </a:solidFill>
                <a:latin typeface="Albert Sans" pitchFamily="34" charset="0"/>
                <a:ea typeface="Albert Sans" pitchFamily="34" charset="-122"/>
                <a:cs typeface="Albert Sans" pitchFamily="34" charset="-120"/>
              </a:rPr>
              <a:t>     C. Homework</a:t>
            </a:r>
            <a:endParaRPr lang="en-US" sz="2000" dirty="0"/>
          </a:p>
        </p:txBody>
      </p:sp>
      <p:sp>
        <p:nvSpPr>
          <p:cNvPr id="27" name="Text 25"/>
          <p:cNvSpPr/>
          <p:nvPr/>
        </p:nvSpPr>
        <p:spPr>
          <a:xfrm>
            <a:off x="6109738" y="5221089"/>
            <a:ext cx="5472372" cy="302220"/>
          </a:xfrm>
          <a:prstGeom prst="rect">
            <a:avLst/>
          </a:prstGeom>
          <a:noFill/>
          <a:ln/>
        </p:spPr>
        <p:txBody>
          <a:bodyPr wrap="none" lIns="0" tIns="0" rIns="0" bIns="0" rtlCol="0" anchor="t"/>
          <a:lstStyle/>
          <a:p>
            <a:pPr marL="0" indent="0" algn="l">
              <a:lnSpc>
                <a:spcPct val="117000"/>
              </a:lnSpc>
              <a:buNone/>
            </a:pPr>
            <a:r>
              <a:rPr lang="en-US" sz="1700" dirty="0">
                <a:solidFill>
                  <a:srgbClr val="000000"/>
                </a:solidFill>
                <a:highlight>
                  <a:srgbClr val="F4E23C"/>
                </a:highlight>
                <a:latin typeface="Albert Sans" pitchFamily="34" charset="0"/>
                <a:ea typeface="Albert Sans" pitchFamily="34" charset="-122"/>
                <a:cs typeface="Albert Sans" pitchFamily="34" charset="-120"/>
              </a:rPr>
              <a:t>Correct </a:t>
            </a:r>
            <a:r>
              <a:rPr lang="en-US" sz="1700" dirty="0" err="1">
                <a:solidFill>
                  <a:srgbClr val="000000"/>
                </a:solidFill>
                <a:highlight>
                  <a:srgbClr val="F4E23C"/>
                </a:highlight>
                <a:latin typeface="Albert Sans" pitchFamily="34" charset="0"/>
                <a:ea typeface="Albert Sans" pitchFamily="34" charset="-122"/>
                <a:cs typeface="Albert Sans" pitchFamily="34" charset="-120"/>
              </a:rPr>
              <a:t>ansewer</a:t>
            </a:r>
            <a:r>
              <a:rPr lang="en-US" sz="1700" dirty="0">
                <a:solidFill>
                  <a:srgbClr val="000000"/>
                </a:solidFill>
                <a:highlight>
                  <a:srgbClr val="F4E23C"/>
                </a:highlight>
                <a:latin typeface="Albert Sans" pitchFamily="34" charset="0"/>
                <a:ea typeface="Albert Sans" pitchFamily="34" charset="-122"/>
                <a:cs typeface="Albert Sans" pitchFamily="34" charset="-120"/>
              </a:rPr>
              <a:t>: B</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0972526" cy="457696"/>
          </a:xfrm>
          <a:prstGeom prst="rect">
            <a:avLst/>
          </a:prstGeom>
          <a:noFill/>
          <a:ln/>
        </p:spPr>
        <p:txBody>
          <a:bodyPr wrap="none" lIns="0" tIns="0" rIns="0" bIns="0" rtlCol="0" anchor="t"/>
          <a:lstStyle/>
          <a:p>
            <a:pPr marL="0" indent="0" algn="l">
              <a:lnSpc>
                <a:spcPct val="88000"/>
              </a:lnSpc>
              <a:buNone/>
            </a:pPr>
            <a:r>
              <a:rPr lang="en-US" sz="3400" kern="100" spc="-41" dirty="0">
                <a:solidFill>
                  <a:srgbClr val="12261A"/>
                </a:solidFill>
                <a:latin typeface="Hedvig Letters Serif" pitchFamily="34" charset="0"/>
                <a:ea typeface="Hedvig Letters Serif" pitchFamily="34" charset="-122"/>
                <a:cs typeface="Hedvig Letters Serif" pitchFamily="34" charset="-120"/>
              </a:rPr>
              <a:t>Step 2: Find the MAIN IDEA</a:t>
            </a:r>
            <a:endParaRPr lang="en-US" sz="3400" dirty="0"/>
          </a:p>
        </p:txBody>
      </p:sp>
      <p:sp>
        <p:nvSpPr>
          <p:cNvPr id="3" name="Shape 1"/>
          <p:cNvSpPr/>
          <p:nvPr/>
        </p:nvSpPr>
        <p:spPr>
          <a:xfrm>
            <a:off x="609585" y="1335584"/>
            <a:ext cx="609585" cy="31651"/>
          </a:xfrm>
          <a:prstGeom prst="roundRect">
            <a:avLst>
              <a:gd name="adj" fmla="val 49998"/>
            </a:avLst>
          </a:prstGeom>
          <a:solidFill>
            <a:srgbClr val="17813A"/>
          </a:solidFill>
          <a:ln/>
        </p:spPr>
      </p:sp>
      <p:sp>
        <p:nvSpPr>
          <p:cNvPr id="4" name="Text 2"/>
          <p:cNvSpPr/>
          <p:nvPr/>
        </p:nvSpPr>
        <p:spPr>
          <a:xfrm>
            <a:off x="609585" y="1762224"/>
            <a:ext cx="11582110" cy="355600"/>
          </a:xfrm>
          <a:prstGeom prst="rect">
            <a:avLst/>
          </a:prstGeom>
          <a:noFill/>
          <a:ln/>
        </p:spPr>
        <p:txBody>
          <a:bodyPr wrap="none" lIns="0" tIns="0" rIns="0" bIns="0" rtlCol="0" anchor="t"/>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The main idea tells us the most important thing the writer says about the topic.</a:t>
            </a:r>
            <a:endParaRPr lang="en-US" sz="2000" dirty="0"/>
          </a:p>
        </p:txBody>
      </p:sp>
      <p:sp>
        <p:nvSpPr>
          <p:cNvPr id="5" name="Shape 3"/>
          <p:cNvSpPr/>
          <p:nvPr/>
        </p:nvSpPr>
        <p:spPr>
          <a:xfrm>
            <a:off x="609585" y="2295624"/>
            <a:ext cx="4556706" cy="2421731"/>
          </a:xfrm>
          <a:prstGeom prst="rect">
            <a:avLst/>
          </a:prstGeom>
          <a:noFill/>
          <a:ln w="6350">
            <a:solidFill>
              <a:srgbClr val="17813A"/>
            </a:solidFill>
            <a:prstDash val="solid"/>
          </a:ln>
        </p:spPr>
      </p:sp>
      <p:sp>
        <p:nvSpPr>
          <p:cNvPr id="6" name="Text 4"/>
          <p:cNvSpPr/>
          <p:nvPr/>
        </p:nvSpPr>
        <p:spPr>
          <a:xfrm>
            <a:off x="869928" y="2555974"/>
            <a:ext cx="4296362"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FORMULA</a:t>
            </a:r>
            <a:endParaRPr lang="en-US" sz="1200" dirty="0"/>
          </a:p>
        </p:txBody>
      </p:sp>
      <p:sp>
        <p:nvSpPr>
          <p:cNvPr id="7" name="Text 5"/>
          <p:cNvSpPr/>
          <p:nvPr/>
        </p:nvSpPr>
        <p:spPr>
          <a:xfrm>
            <a:off x="869928" y="2839740"/>
            <a:ext cx="4036019" cy="782241"/>
          </a:xfrm>
          <a:prstGeom prst="rect">
            <a:avLst/>
          </a:prstGeom>
          <a:noFill/>
          <a:ln/>
        </p:spPr>
        <p:txBody>
          <a:bodyPr wrap="none" lIns="0" tIns="0" rIns="0" bIns="0" rtlCol="0" anchor="t"/>
          <a:lstStyle/>
          <a:p>
            <a:pPr marL="0" indent="0" algn="l">
              <a:lnSpc>
                <a:spcPct val="92000"/>
              </a:lnSpc>
              <a:buNone/>
            </a:pPr>
            <a:r>
              <a:rPr lang="en-US" sz="5600" kern="100" spc="-112" dirty="0">
                <a:solidFill>
                  <a:srgbClr val="12261A"/>
                </a:solidFill>
                <a:latin typeface="Hedvig Letters Serif" pitchFamily="34" charset="0"/>
                <a:ea typeface="Hedvig Letters Serif" pitchFamily="34" charset="-122"/>
                <a:cs typeface="Hedvig Letters Serif" pitchFamily="34" charset="-120"/>
              </a:rPr>
              <a:t>TOPIC</a:t>
            </a:r>
            <a:endParaRPr lang="en-US" sz="5600" dirty="0"/>
          </a:p>
        </p:txBody>
      </p:sp>
      <p:sp>
        <p:nvSpPr>
          <p:cNvPr id="8" name="Shape 6"/>
          <p:cNvSpPr/>
          <p:nvPr/>
        </p:nvSpPr>
        <p:spPr>
          <a:xfrm>
            <a:off x="869928" y="3890268"/>
            <a:ext cx="609585" cy="31651"/>
          </a:xfrm>
          <a:prstGeom prst="roundRect">
            <a:avLst>
              <a:gd name="adj" fmla="val 49998"/>
            </a:avLst>
          </a:prstGeom>
          <a:solidFill>
            <a:srgbClr val="17813A"/>
          </a:solidFill>
          <a:ln/>
        </p:spPr>
      </p:sp>
      <p:sp>
        <p:nvSpPr>
          <p:cNvPr id="9" name="Text 7"/>
          <p:cNvSpPr/>
          <p:nvPr/>
        </p:nvSpPr>
        <p:spPr>
          <a:xfrm>
            <a:off x="869928" y="4101405"/>
            <a:ext cx="4296362" cy="355600"/>
          </a:xfrm>
          <a:prstGeom prst="rect">
            <a:avLst/>
          </a:prstGeom>
          <a:noFill/>
          <a:ln/>
        </p:spPr>
        <p:txBody>
          <a:bodyPr wrap="none" lIns="0" tIns="0" rIns="0" bIns="0" rtlCol="0" anchor="t"/>
          <a:lstStyle/>
          <a:p>
            <a:pPr marL="0" indent="0" algn="l">
              <a:lnSpc>
                <a:spcPct val="117000"/>
              </a:lnSpc>
              <a:buNone/>
            </a:pPr>
            <a:r>
              <a:rPr lang="en-US" sz="2000" b="1" dirty="0">
                <a:solidFill>
                  <a:srgbClr val="12261A"/>
                </a:solidFill>
                <a:latin typeface="Albert Sans Bold" pitchFamily="34" charset="0"/>
                <a:ea typeface="Albert Sans Bold" pitchFamily="34" charset="-122"/>
                <a:cs typeface="Albert Sans Bold" pitchFamily="34" charset="-120"/>
              </a:rPr>
              <a:t>= What?</a:t>
            </a:r>
            <a:endParaRPr lang="en-US" sz="2000" dirty="0"/>
          </a:p>
        </p:txBody>
      </p:sp>
      <p:sp>
        <p:nvSpPr>
          <p:cNvPr id="10" name="Shape 8"/>
          <p:cNvSpPr/>
          <p:nvPr/>
        </p:nvSpPr>
        <p:spPr>
          <a:xfrm>
            <a:off x="5623380" y="2295624"/>
            <a:ext cx="5958731" cy="2421731"/>
          </a:xfrm>
          <a:prstGeom prst="rect">
            <a:avLst/>
          </a:prstGeom>
          <a:solidFill>
            <a:srgbClr val="EFF7F0"/>
          </a:solidFill>
          <a:ln w="6350">
            <a:solidFill>
              <a:srgbClr val="17813A"/>
            </a:solidFill>
            <a:prstDash val="solid"/>
          </a:ln>
        </p:spPr>
      </p:sp>
      <p:sp>
        <p:nvSpPr>
          <p:cNvPr id="11" name="Text 9"/>
          <p:cNvSpPr/>
          <p:nvPr/>
        </p:nvSpPr>
        <p:spPr>
          <a:xfrm>
            <a:off x="5883723" y="2555974"/>
            <a:ext cx="5698387"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000000"/>
                </a:solidFill>
                <a:latin typeface="Red Hat Mono Medium" pitchFamily="34" charset="0"/>
                <a:ea typeface="Red Hat Mono Medium" pitchFamily="34" charset="-122"/>
                <a:cs typeface="Red Hat Mono Medium" pitchFamily="34" charset="-120"/>
              </a:rPr>
              <a:t>FORMULA</a:t>
            </a:r>
            <a:endParaRPr lang="en-US" sz="1200" dirty="0"/>
          </a:p>
        </p:txBody>
      </p:sp>
      <p:sp>
        <p:nvSpPr>
          <p:cNvPr id="12" name="Text 10"/>
          <p:cNvSpPr/>
          <p:nvPr/>
        </p:nvSpPr>
        <p:spPr>
          <a:xfrm>
            <a:off x="5883723" y="2839740"/>
            <a:ext cx="5438044" cy="782241"/>
          </a:xfrm>
          <a:prstGeom prst="rect">
            <a:avLst/>
          </a:prstGeom>
          <a:noFill/>
          <a:ln/>
        </p:spPr>
        <p:txBody>
          <a:bodyPr wrap="none" lIns="0" tIns="0" rIns="0" bIns="0" rtlCol="0" anchor="t"/>
          <a:lstStyle/>
          <a:p>
            <a:pPr marL="0" indent="0" algn="l">
              <a:lnSpc>
                <a:spcPct val="92000"/>
              </a:lnSpc>
              <a:buNone/>
            </a:pPr>
            <a:r>
              <a:rPr lang="en-US" sz="5600" kern="100" spc="-112" dirty="0">
                <a:solidFill>
                  <a:srgbClr val="000000"/>
                </a:solidFill>
                <a:latin typeface="Hedvig Letters Serif" pitchFamily="34" charset="0"/>
                <a:ea typeface="Hedvig Letters Serif" pitchFamily="34" charset="-122"/>
                <a:cs typeface="Hedvig Letters Serif" pitchFamily="34" charset="-120"/>
              </a:rPr>
              <a:t>MAIN IDEA</a:t>
            </a:r>
            <a:endParaRPr lang="en-US" sz="5600" dirty="0"/>
          </a:p>
        </p:txBody>
      </p:sp>
      <p:sp>
        <p:nvSpPr>
          <p:cNvPr id="13" name="Shape 11"/>
          <p:cNvSpPr/>
          <p:nvPr/>
        </p:nvSpPr>
        <p:spPr>
          <a:xfrm>
            <a:off x="5883723" y="3890268"/>
            <a:ext cx="609585" cy="31651"/>
          </a:xfrm>
          <a:prstGeom prst="roundRect">
            <a:avLst>
              <a:gd name="adj" fmla="val 49998"/>
            </a:avLst>
          </a:prstGeom>
          <a:solidFill>
            <a:srgbClr val="17813A"/>
          </a:solidFill>
          <a:ln/>
        </p:spPr>
      </p:sp>
      <p:sp>
        <p:nvSpPr>
          <p:cNvPr id="14" name="Text 12"/>
          <p:cNvSpPr/>
          <p:nvPr/>
        </p:nvSpPr>
        <p:spPr>
          <a:xfrm>
            <a:off x="5883723" y="4101405"/>
            <a:ext cx="5698387" cy="355600"/>
          </a:xfrm>
          <a:prstGeom prst="rect">
            <a:avLst/>
          </a:prstGeom>
          <a:noFill/>
          <a:ln/>
        </p:spPr>
        <p:txBody>
          <a:bodyPr wrap="none" lIns="0" tIns="0" rIns="0" bIns="0" rtlCol="0" anchor="t"/>
          <a:lstStyle/>
          <a:p>
            <a:pPr marL="0" indent="0" algn="l">
              <a:lnSpc>
                <a:spcPct val="117000"/>
              </a:lnSpc>
              <a:buNone/>
            </a:pPr>
            <a:r>
              <a:rPr lang="en-US" sz="2000" b="1" dirty="0">
                <a:solidFill>
                  <a:srgbClr val="000000"/>
                </a:solidFill>
                <a:latin typeface="Albert Sans Bold" pitchFamily="34" charset="0"/>
                <a:ea typeface="Albert Sans Bold" pitchFamily="34" charset="-122"/>
                <a:cs typeface="Albert Sans Bold" pitchFamily="34" charset="-120"/>
              </a:rPr>
              <a:t>= What does the writer say about it?</a:t>
            </a:r>
            <a:endParaRPr lang="en-US" sz="2000" dirty="0"/>
          </a:p>
        </p:txBody>
      </p:sp>
      <p:sp>
        <p:nvSpPr>
          <p:cNvPr id="15" name="Text 13"/>
          <p:cNvSpPr/>
          <p:nvPr/>
        </p:nvSpPr>
        <p:spPr>
          <a:xfrm>
            <a:off x="609585" y="5047555"/>
            <a:ext cx="10972526" cy="731441"/>
          </a:xfrm>
          <a:prstGeom prst="rect">
            <a:avLst/>
          </a:prstGeom>
          <a:noFill/>
          <a:ln/>
        </p:spPr>
        <p:txBody>
          <a:bodyPr wrap="square" lIns="0" tIns="0" rIns="0" bIns="0" rtlCol="0" anchor="t"/>
          <a:lstStyle/>
          <a:p>
            <a:pPr marL="0" indent="0" algn="l">
              <a:lnSpc>
                <a:spcPct val="117000"/>
              </a:lnSpc>
              <a:spcAft>
                <a:spcPts val="950"/>
              </a:spcAft>
              <a:buNone/>
            </a:pPr>
            <a:r>
              <a:rPr lang="en-US" sz="1700" b="1" dirty="0">
                <a:solidFill>
                  <a:srgbClr val="12261A"/>
                </a:solidFill>
                <a:latin typeface="Albert Sans Bold" pitchFamily="34" charset="0"/>
                <a:ea typeface="Albert Sans Bold" pitchFamily="34" charset="-122"/>
                <a:cs typeface="Albert Sans Bold" pitchFamily="34" charset="-120"/>
              </a:rPr>
              <a:t>Example:</a:t>
            </a:r>
            <a:r>
              <a:rPr lang="en-US" sz="1700" dirty="0">
                <a:solidFill>
                  <a:srgbClr val="12261A"/>
                </a:solidFill>
                <a:latin typeface="Albert Sans" pitchFamily="34" charset="0"/>
                <a:ea typeface="Albert Sans" pitchFamily="34" charset="-122"/>
                <a:cs typeface="Albert Sans" pitchFamily="34" charset="-120"/>
              </a:rPr>
              <a:t> Topic: Online education</a:t>
            </a:r>
            <a:endParaRPr lang="en-US" sz="1700" dirty="0"/>
          </a:p>
          <a:p>
            <a:pPr marL="0" indent="0" algn="l">
              <a:lnSpc>
                <a:spcPct val="117000"/>
              </a:lnSpc>
              <a:buNone/>
            </a:pPr>
            <a:r>
              <a:rPr lang="en-US" sz="1700" dirty="0">
                <a:solidFill>
                  <a:srgbClr val="12261A"/>
                </a:solidFill>
                <a:latin typeface="Albert Sans" pitchFamily="34" charset="0"/>
                <a:ea typeface="Albert Sans" pitchFamily="34" charset="-122"/>
                <a:cs typeface="Albert Sans" pitchFamily="34" charset="-120"/>
              </a:rPr>
              <a:t>Main idea: </a:t>
            </a:r>
            <a:r>
              <a:rPr lang="en-US" sz="1700" dirty="0">
                <a:solidFill>
                  <a:srgbClr val="000000"/>
                </a:solidFill>
                <a:highlight>
                  <a:srgbClr val="F4E23C"/>
                </a:highlight>
                <a:latin typeface="Albert Sans" pitchFamily="34" charset="0"/>
                <a:ea typeface="Albert Sans" pitchFamily="34" charset="-122"/>
                <a:cs typeface="Albert Sans" pitchFamily="34" charset="-120"/>
              </a:rPr>
              <a:t>“Online education gives university students more flexibility in how and where they study.”</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0972526" cy="457696"/>
          </a:xfrm>
          <a:prstGeom prst="rect">
            <a:avLst/>
          </a:prstGeom>
          <a:noFill/>
          <a:ln/>
        </p:spPr>
        <p:txBody>
          <a:bodyPr wrap="none" lIns="0" tIns="0" rIns="0" bIns="0" rtlCol="0" anchor="t"/>
          <a:lstStyle/>
          <a:p>
            <a:pPr marL="0" indent="0" algn="l">
              <a:lnSpc>
                <a:spcPct val="88000"/>
              </a:lnSpc>
              <a:buNone/>
            </a:pPr>
            <a:r>
              <a:rPr lang="en-US" sz="3400" kern="100" spc="-41" dirty="0">
                <a:solidFill>
                  <a:srgbClr val="12261A"/>
                </a:solidFill>
                <a:latin typeface="Hedvig Letters Serif" pitchFamily="34" charset="0"/>
                <a:ea typeface="Hedvig Letters Serif" pitchFamily="34" charset="-122"/>
                <a:cs typeface="Hedvig Letters Serif" pitchFamily="34" charset="-120"/>
              </a:rPr>
              <a:t>Topic vs Main Idea</a:t>
            </a:r>
            <a:endParaRPr lang="en-US" sz="3400" dirty="0"/>
          </a:p>
        </p:txBody>
      </p:sp>
      <p:sp>
        <p:nvSpPr>
          <p:cNvPr id="3" name="Shape 1"/>
          <p:cNvSpPr/>
          <p:nvPr/>
        </p:nvSpPr>
        <p:spPr>
          <a:xfrm>
            <a:off x="609585" y="1335584"/>
            <a:ext cx="609585" cy="31651"/>
          </a:xfrm>
          <a:prstGeom prst="roundRect">
            <a:avLst>
              <a:gd name="adj" fmla="val 49998"/>
            </a:avLst>
          </a:prstGeom>
          <a:solidFill>
            <a:srgbClr val="17813A"/>
          </a:solidFill>
          <a:ln/>
        </p:spPr>
      </p:sp>
      <p:sp>
        <p:nvSpPr>
          <p:cNvPr id="4" name="Shape 2"/>
          <p:cNvSpPr/>
          <p:nvPr/>
        </p:nvSpPr>
        <p:spPr>
          <a:xfrm>
            <a:off x="609585" y="2250083"/>
            <a:ext cx="4907137" cy="2732484"/>
          </a:xfrm>
          <a:prstGeom prst="rect">
            <a:avLst/>
          </a:prstGeom>
          <a:noFill/>
          <a:ln w="6350">
            <a:solidFill>
              <a:srgbClr val="17813A"/>
            </a:solidFill>
            <a:prstDash val="solid"/>
          </a:ln>
        </p:spPr>
      </p:sp>
      <p:sp>
        <p:nvSpPr>
          <p:cNvPr id="5" name="Text 3"/>
          <p:cNvSpPr/>
          <p:nvPr/>
        </p:nvSpPr>
        <p:spPr>
          <a:xfrm>
            <a:off x="869928" y="2510433"/>
            <a:ext cx="4646794"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SUBJECT FOCUS</a:t>
            </a:r>
            <a:endParaRPr lang="en-US" sz="1200" dirty="0"/>
          </a:p>
        </p:txBody>
      </p:sp>
      <p:sp>
        <p:nvSpPr>
          <p:cNvPr id="6" name="Text 4"/>
          <p:cNvSpPr/>
          <p:nvPr/>
        </p:nvSpPr>
        <p:spPr>
          <a:xfrm>
            <a:off x="869928" y="2794198"/>
            <a:ext cx="4386450" cy="304800"/>
          </a:xfrm>
          <a:prstGeom prst="rect">
            <a:avLst/>
          </a:prstGeom>
          <a:noFill/>
          <a:ln/>
        </p:spPr>
        <p:txBody>
          <a:bodyPr wrap="none" lIns="0" tIns="0" rIns="0" bIns="0" rtlCol="0" anchor="t"/>
          <a:lstStyle/>
          <a:p>
            <a:pPr marL="0" indent="0" algn="l">
              <a:lnSpc>
                <a:spcPct val="100000"/>
              </a:lnSpc>
              <a:buNone/>
            </a:pPr>
            <a:r>
              <a:rPr lang="en-US" sz="2000" dirty="0">
                <a:solidFill>
                  <a:srgbClr val="12261A"/>
                </a:solidFill>
                <a:latin typeface="Albert Sans SemiBold" pitchFamily="34" charset="0"/>
                <a:ea typeface="Albert Sans SemiBold" pitchFamily="34" charset="-122"/>
                <a:cs typeface="Albert Sans SemiBold" pitchFamily="34" charset="-120"/>
              </a:rPr>
              <a:t>TOPIC</a:t>
            </a:r>
            <a:endParaRPr lang="en-US" sz="2000" dirty="0"/>
          </a:p>
        </p:txBody>
      </p:sp>
      <p:sp>
        <p:nvSpPr>
          <p:cNvPr id="7" name="Text 5"/>
          <p:cNvSpPr/>
          <p:nvPr/>
        </p:nvSpPr>
        <p:spPr>
          <a:xfrm>
            <a:off x="869928" y="3225998"/>
            <a:ext cx="4646794" cy="355600"/>
          </a:xfrm>
          <a:prstGeom prst="rect">
            <a:avLst/>
          </a:prstGeom>
          <a:noFill/>
          <a:ln/>
        </p:spPr>
        <p:txBody>
          <a:bodyPr wrap="none" lIns="0" tIns="0" rIns="0" bIns="0" rtlCol="0" anchor="t"/>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Usually a word or short phrase.</a:t>
            </a:r>
            <a:endParaRPr lang="en-US" sz="2000" dirty="0"/>
          </a:p>
        </p:txBody>
      </p:sp>
      <p:sp>
        <p:nvSpPr>
          <p:cNvPr id="8" name="Text 6"/>
          <p:cNvSpPr/>
          <p:nvPr/>
        </p:nvSpPr>
        <p:spPr>
          <a:xfrm>
            <a:off x="869928" y="3759398"/>
            <a:ext cx="4646794" cy="231378"/>
          </a:xfrm>
          <a:prstGeom prst="rect">
            <a:avLst/>
          </a:prstGeom>
          <a:noFill/>
          <a:ln/>
        </p:spPr>
        <p:txBody>
          <a:bodyPr wrap="none" lIns="0" tIns="0" rIns="0" bIns="0" rtlCol="0" anchor="t"/>
          <a:lstStyle/>
          <a:p>
            <a:pPr marL="0" indent="0" algn="l">
              <a:lnSpc>
                <a:spcPct val="113000"/>
              </a:lnSpc>
              <a:buNone/>
            </a:pPr>
            <a:r>
              <a:rPr lang="en-US" sz="1350" dirty="0">
                <a:solidFill>
                  <a:srgbClr val="4F5E55"/>
                </a:solidFill>
                <a:latin typeface="Albert Sans" pitchFamily="34" charset="0"/>
                <a:ea typeface="Albert Sans" pitchFamily="34" charset="-122"/>
                <a:cs typeface="Albert Sans" pitchFamily="34" charset="-120"/>
              </a:rPr>
              <a:t>EXAMPLE</a:t>
            </a:r>
            <a:endParaRPr lang="en-US" sz="1350" dirty="0"/>
          </a:p>
        </p:txBody>
      </p:sp>
      <p:sp>
        <p:nvSpPr>
          <p:cNvPr id="9" name="Text 7"/>
          <p:cNvSpPr/>
          <p:nvPr/>
        </p:nvSpPr>
        <p:spPr>
          <a:xfrm>
            <a:off x="869928" y="4117777"/>
            <a:ext cx="4646794" cy="302220"/>
          </a:xfrm>
          <a:prstGeom prst="rect">
            <a:avLst/>
          </a:prstGeom>
          <a:noFill/>
          <a:ln/>
        </p:spPr>
        <p:txBody>
          <a:bodyPr wrap="none" lIns="0" tIns="0" rIns="0" bIns="0" rtlCol="0" anchor="t"/>
          <a:lstStyle/>
          <a:p>
            <a:pPr marL="0" indent="0" algn="l">
              <a:lnSpc>
                <a:spcPct val="117000"/>
              </a:lnSpc>
              <a:buNone/>
            </a:pPr>
            <a:r>
              <a:rPr lang="en-US" sz="1700" b="1" dirty="0">
                <a:solidFill>
                  <a:srgbClr val="12261A"/>
                </a:solidFill>
                <a:latin typeface="Albert Sans Bold" pitchFamily="34" charset="0"/>
                <a:ea typeface="Albert Sans Bold" pitchFamily="34" charset="-122"/>
                <a:cs typeface="Albert Sans Bold" pitchFamily="34" charset="-120"/>
              </a:rPr>
              <a:t>“Social media”</a:t>
            </a:r>
            <a:endParaRPr lang="en-US" sz="1700" dirty="0"/>
          </a:p>
        </p:txBody>
      </p:sp>
      <p:sp>
        <p:nvSpPr>
          <p:cNvPr id="10" name="Shape 8"/>
          <p:cNvSpPr/>
          <p:nvPr/>
        </p:nvSpPr>
        <p:spPr>
          <a:xfrm>
            <a:off x="5973811" y="2250083"/>
            <a:ext cx="5608299" cy="2732484"/>
          </a:xfrm>
          <a:prstGeom prst="rect">
            <a:avLst/>
          </a:prstGeom>
          <a:solidFill>
            <a:srgbClr val="EFF7F0"/>
          </a:solidFill>
          <a:ln w="6350">
            <a:solidFill>
              <a:srgbClr val="17813A"/>
            </a:solidFill>
            <a:prstDash val="solid"/>
          </a:ln>
        </p:spPr>
      </p:sp>
      <p:sp>
        <p:nvSpPr>
          <p:cNvPr id="11" name="Text 9"/>
          <p:cNvSpPr/>
          <p:nvPr/>
        </p:nvSpPr>
        <p:spPr>
          <a:xfrm>
            <a:off x="6234155" y="2510433"/>
            <a:ext cx="5347955"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000000"/>
                </a:solidFill>
                <a:latin typeface="Red Hat Mono Medium" pitchFamily="34" charset="0"/>
                <a:ea typeface="Red Hat Mono Medium" pitchFamily="34" charset="-122"/>
                <a:cs typeface="Red Hat Mono Medium" pitchFamily="34" charset="-120"/>
              </a:rPr>
              <a:t>COMPLETE MESSAGE</a:t>
            </a:r>
            <a:endParaRPr lang="en-US" sz="1200" dirty="0"/>
          </a:p>
        </p:txBody>
      </p:sp>
      <p:sp>
        <p:nvSpPr>
          <p:cNvPr id="12" name="Text 10"/>
          <p:cNvSpPr/>
          <p:nvPr/>
        </p:nvSpPr>
        <p:spPr>
          <a:xfrm>
            <a:off x="6234155" y="2794198"/>
            <a:ext cx="5087612" cy="304800"/>
          </a:xfrm>
          <a:prstGeom prst="rect">
            <a:avLst/>
          </a:prstGeom>
          <a:noFill/>
          <a:ln/>
        </p:spPr>
        <p:txBody>
          <a:bodyPr wrap="none" lIns="0" tIns="0" rIns="0" bIns="0" rtlCol="0" anchor="t"/>
          <a:lstStyle/>
          <a:p>
            <a:pPr marL="0" indent="0" algn="l">
              <a:lnSpc>
                <a:spcPct val="100000"/>
              </a:lnSpc>
              <a:buNone/>
            </a:pPr>
            <a:r>
              <a:rPr lang="en-US" sz="2000" dirty="0">
                <a:solidFill>
                  <a:srgbClr val="000000"/>
                </a:solidFill>
                <a:latin typeface="Albert Sans SemiBold" pitchFamily="34" charset="0"/>
                <a:ea typeface="Albert Sans SemiBold" pitchFamily="34" charset="-122"/>
                <a:cs typeface="Albert Sans SemiBold" pitchFamily="34" charset="-120"/>
              </a:rPr>
              <a:t>MAIN IDEA</a:t>
            </a:r>
            <a:endParaRPr lang="en-US" sz="2000" dirty="0"/>
          </a:p>
        </p:txBody>
      </p:sp>
      <p:sp>
        <p:nvSpPr>
          <p:cNvPr id="13" name="Text 11"/>
          <p:cNvSpPr/>
          <p:nvPr/>
        </p:nvSpPr>
        <p:spPr>
          <a:xfrm>
            <a:off x="6234155" y="3225998"/>
            <a:ext cx="5347955" cy="355600"/>
          </a:xfrm>
          <a:prstGeom prst="rect">
            <a:avLst/>
          </a:prstGeom>
          <a:noFill/>
          <a:ln/>
        </p:spPr>
        <p:txBody>
          <a:bodyPr wrap="none" lIns="0" tIns="0" rIns="0" bIns="0" rtlCol="0" anchor="t"/>
          <a:lstStyle/>
          <a:p>
            <a:pPr marL="0" indent="0" algn="l">
              <a:lnSpc>
                <a:spcPct val="117000"/>
              </a:lnSpc>
              <a:buNone/>
            </a:pPr>
            <a:r>
              <a:rPr lang="en-US" sz="2000" dirty="0">
                <a:solidFill>
                  <a:srgbClr val="000000"/>
                </a:solidFill>
                <a:latin typeface="Albert Sans" pitchFamily="34" charset="0"/>
                <a:ea typeface="Albert Sans" pitchFamily="34" charset="-122"/>
                <a:cs typeface="Albert Sans" pitchFamily="34" charset="-120"/>
              </a:rPr>
              <a:t>Usually a complete sentence.</a:t>
            </a:r>
            <a:endParaRPr lang="en-US" sz="2000" dirty="0"/>
          </a:p>
        </p:txBody>
      </p:sp>
      <p:sp>
        <p:nvSpPr>
          <p:cNvPr id="14" name="Text 12"/>
          <p:cNvSpPr/>
          <p:nvPr/>
        </p:nvSpPr>
        <p:spPr>
          <a:xfrm>
            <a:off x="6234155" y="3759398"/>
            <a:ext cx="5347955" cy="231378"/>
          </a:xfrm>
          <a:prstGeom prst="rect">
            <a:avLst/>
          </a:prstGeom>
          <a:noFill/>
          <a:ln/>
        </p:spPr>
        <p:txBody>
          <a:bodyPr wrap="none" lIns="0" tIns="0" rIns="0" bIns="0" rtlCol="0" anchor="t"/>
          <a:lstStyle/>
          <a:p>
            <a:pPr marL="0" indent="0" algn="l">
              <a:lnSpc>
                <a:spcPct val="113000"/>
              </a:lnSpc>
              <a:buNone/>
            </a:pPr>
            <a:r>
              <a:rPr lang="en-US" sz="1350" dirty="0">
                <a:solidFill>
                  <a:srgbClr val="000000"/>
                </a:solidFill>
                <a:latin typeface="Albert Sans" pitchFamily="34" charset="0"/>
                <a:ea typeface="Albert Sans" pitchFamily="34" charset="-122"/>
                <a:cs typeface="Albert Sans" pitchFamily="34" charset="-120"/>
              </a:rPr>
              <a:t>EXAMPLE</a:t>
            </a:r>
            <a:endParaRPr lang="en-US" sz="1350" dirty="0"/>
          </a:p>
        </p:txBody>
      </p:sp>
      <p:sp>
        <p:nvSpPr>
          <p:cNvPr id="15" name="Text 13"/>
          <p:cNvSpPr/>
          <p:nvPr/>
        </p:nvSpPr>
        <p:spPr>
          <a:xfrm>
            <a:off x="6234155" y="4117777"/>
            <a:ext cx="5087612" cy="604441"/>
          </a:xfrm>
          <a:prstGeom prst="rect">
            <a:avLst/>
          </a:prstGeom>
          <a:noFill/>
          <a:ln/>
        </p:spPr>
        <p:txBody>
          <a:bodyPr wrap="square" lIns="0" tIns="0" rIns="0" bIns="0" rtlCol="0" anchor="t">
            <a:normAutofit/>
          </a:bodyPr>
          <a:lstStyle/>
          <a:p>
            <a:pPr marL="0" indent="0" algn="l">
              <a:lnSpc>
                <a:spcPct val="117000"/>
              </a:lnSpc>
              <a:buNone/>
            </a:pPr>
            <a:r>
              <a:rPr lang="en-US" sz="1700" b="1" dirty="0">
                <a:solidFill>
                  <a:srgbClr val="000000"/>
                </a:solidFill>
                <a:latin typeface="Albert Sans Bold" pitchFamily="34" charset="0"/>
                <a:ea typeface="Albert Sans Bold" pitchFamily="34" charset="-122"/>
                <a:cs typeface="Albert Sans Bold" pitchFamily="34" charset="-120"/>
              </a:rPr>
              <a:t>“Social media can influence how young people communicate and share information.”</a:t>
            </a:r>
            <a:endParaRPr lang="en-US" sz="1700" dirty="0"/>
          </a:p>
        </p:txBody>
      </p:sp>
      <p:sp>
        <p:nvSpPr>
          <p:cNvPr id="16" name="Text 14"/>
          <p:cNvSpPr/>
          <p:nvPr/>
        </p:nvSpPr>
        <p:spPr>
          <a:xfrm>
            <a:off x="609585" y="5160367"/>
            <a:ext cx="10972526" cy="257770"/>
          </a:xfrm>
          <a:prstGeom prst="rect">
            <a:avLst/>
          </a:prstGeom>
          <a:noFill/>
          <a:ln/>
        </p:spPr>
        <p:txBody>
          <a:bodyPr wrap="none" lIns="0" tIns="0" rIns="0" bIns="0" rtlCol="0" anchor="t"/>
          <a:lstStyle/>
          <a:p>
            <a:pPr marL="0" indent="0" algn="l">
              <a:lnSpc>
                <a:spcPct val="117000"/>
              </a:lnSpc>
              <a:buNone/>
            </a:pPr>
            <a:r>
              <a:rPr lang="en-US" sz="1450" dirty="0">
                <a:solidFill>
                  <a:srgbClr val="000000"/>
                </a:solidFill>
                <a:highlight>
                  <a:srgbClr val="F4E23C"/>
                </a:highlight>
                <a:latin typeface="Albert Sans" pitchFamily="34" charset="0"/>
                <a:ea typeface="Albert Sans" pitchFamily="34" charset="-122"/>
                <a:cs typeface="Albert Sans" pitchFamily="34" charset="-120"/>
              </a:rPr>
              <a:t>Include a short practice activity where students identify the topic and main idea.</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0972526" cy="457696"/>
          </a:xfrm>
          <a:prstGeom prst="rect">
            <a:avLst/>
          </a:prstGeom>
          <a:noFill/>
          <a:ln/>
        </p:spPr>
        <p:txBody>
          <a:bodyPr wrap="none" lIns="0" tIns="0" rIns="0" bIns="0" rtlCol="0" anchor="t"/>
          <a:lstStyle/>
          <a:p>
            <a:pPr marL="0" indent="0" algn="l">
              <a:lnSpc>
                <a:spcPct val="88000"/>
              </a:lnSpc>
              <a:buNone/>
            </a:pPr>
            <a:r>
              <a:rPr lang="en-US" sz="3400" kern="100" spc="-41" dirty="0">
                <a:solidFill>
                  <a:srgbClr val="12261A"/>
                </a:solidFill>
                <a:latin typeface="Hedvig Letters Serif" pitchFamily="34" charset="0"/>
                <a:ea typeface="Hedvig Letters Serif" pitchFamily="34" charset="-122"/>
                <a:cs typeface="Hedvig Letters Serif" pitchFamily="34" charset="-120"/>
              </a:rPr>
              <a:t>Step 3: Find the KEYWORDS</a:t>
            </a:r>
            <a:endParaRPr lang="en-US" sz="3400" dirty="0"/>
          </a:p>
        </p:txBody>
      </p:sp>
      <p:sp>
        <p:nvSpPr>
          <p:cNvPr id="3" name="Shape 1"/>
          <p:cNvSpPr/>
          <p:nvPr/>
        </p:nvSpPr>
        <p:spPr>
          <a:xfrm>
            <a:off x="609585" y="1335584"/>
            <a:ext cx="609585" cy="31651"/>
          </a:xfrm>
          <a:prstGeom prst="roundRect">
            <a:avLst>
              <a:gd name="adj" fmla="val 49998"/>
            </a:avLst>
          </a:prstGeom>
          <a:solidFill>
            <a:srgbClr val="17813A"/>
          </a:solidFill>
          <a:ln/>
        </p:spPr>
      </p:sp>
      <p:sp>
        <p:nvSpPr>
          <p:cNvPr id="4" name="Text 2"/>
          <p:cNvSpPr/>
          <p:nvPr/>
        </p:nvSpPr>
        <p:spPr>
          <a:xfrm>
            <a:off x="609585" y="2351782"/>
            <a:ext cx="11582110" cy="355600"/>
          </a:xfrm>
          <a:prstGeom prst="rect">
            <a:avLst/>
          </a:prstGeom>
          <a:noFill/>
          <a:ln/>
        </p:spPr>
        <p:txBody>
          <a:bodyPr wrap="none" lIns="0" tIns="0" rIns="0" bIns="0" rtlCol="0" anchor="t"/>
          <a:lstStyle/>
          <a:p>
            <a:pPr marL="0" indent="0" algn="l">
              <a:lnSpc>
                <a:spcPct val="117000"/>
              </a:lnSpc>
              <a:buNone/>
            </a:pPr>
            <a:r>
              <a:rPr lang="en-US" sz="2000" b="1" dirty="0">
                <a:solidFill>
                  <a:srgbClr val="12261A"/>
                </a:solidFill>
                <a:latin typeface="Albert Sans Bold" pitchFamily="34" charset="0"/>
                <a:ea typeface="Albert Sans Bold" pitchFamily="34" charset="-122"/>
                <a:cs typeface="Albert Sans Bold" pitchFamily="34" charset="-120"/>
              </a:rPr>
              <a:t>Keywords are important words that help you find information.</a:t>
            </a:r>
            <a:endParaRPr lang="en-US" sz="2000" dirty="0"/>
          </a:p>
        </p:txBody>
      </p:sp>
      <p:sp>
        <p:nvSpPr>
          <p:cNvPr id="5" name="Text 3"/>
          <p:cNvSpPr/>
          <p:nvPr/>
        </p:nvSpPr>
        <p:spPr>
          <a:xfrm>
            <a:off x="609585" y="2859782"/>
            <a:ext cx="11582110"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WHAT TO LOOK FOR</a:t>
            </a:r>
            <a:endParaRPr lang="en-US" sz="1200" dirty="0"/>
          </a:p>
        </p:txBody>
      </p:sp>
      <p:sp>
        <p:nvSpPr>
          <p:cNvPr id="6" name="Text 4"/>
          <p:cNvSpPr/>
          <p:nvPr/>
        </p:nvSpPr>
        <p:spPr>
          <a:xfrm>
            <a:off x="609585" y="3251498"/>
            <a:ext cx="11582110" cy="355600"/>
          </a:xfrm>
          <a:prstGeom prst="rect">
            <a:avLst/>
          </a:prstGeom>
          <a:noFill/>
          <a:ln/>
        </p:spPr>
        <p:txBody>
          <a:bodyPr wrap="none" lIns="0" tIns="0" rIns="0" bIns="0" rtlCol="0" anchor="t"/>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Look for: Names, numbers, dates, places, important nouns, technical terms, repeated words.</a:t>
            </a:r>
            <a:endParaRPr lang="en-US" sz="2000" dirty="0"/>
          </a:p>
        </p:txBody>
      </p:sp>
      <p:sp>
        <p:nvSpPr>
          <p:cNvPr id="7" name="Shape 5"/>
          <p:cNvSpPr/>
          <p:nvPr/>
        </p:nvSpPr>
        <p:spPr>
          <a:xfrm>
            <a:off x="609585" y="3810298"/>
            <a:ext cx="5257668" cy="1506141"/>
          </a:xfrm>
          <a:prstGeom prst="rect">
            <a:avLst/>
          </a:prstGeom>
          <a:noFill/>
          <a:ln w="6350">
            <a:solidFill>
              <a:srgbClr val="17813A"/>
            </a:solidFill>
            <a:prstDash val="solid"/>
          </a:ln>
        </p:spPr>
      </p:sp>
      <p:sp>
        <p:nvSpPr>
          <p:cNvPr id="8" name="Text 6"/>
          <p:cNvSpPr/>
          <p:nvPr/>
        </p:nvSpPr>
        <p:spPr>
          <a:xfrm>
            <a:off x="844529" y="4045248"/>
            <a:ext cx="5022724"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QUESTION</a:t>
            </a:r>
            <a:endParaRPr lang="en-US" sz="1200" dirty="0"/>
          </a:p>
        </p:txBody>
      </p:sp>
      <p:sp>
        <p:nvSpPr>
          <p:cNvPr id="9" name="Text 7"/>
          <p:cNvSpPr/>
          <p:nvPr/>
        </p:nvSpPr>
        <p:spPr>
          <a:xfrm>
            <a:off x="844529" y="4370288"/>
            <a:ext cx="4787780" cy="711200"/>
          </a:xfrm>
          <a:prstGeom prst="rect">
            <a:avLst/>
          </a:prstGeom>
          <a:noFill/>
          <a:ln/>
        </p:spPr>
        <p:txBody>
          <a:bodyPr wrap="square" lIns="0" tIns="0" rIns="0" bIns="0" rtlCol="0" anchor="t">
            <a:normAutofit/>
          </a:bodyPr>
          <a:lstStyle/>
          <a:p>
            <a:pPr marL="0" indent="0" algn="l">
              <a:lnSpc>
                <a:spcPct val="117000"/>
              </a:lnSpc>
              <a:buNone/>
            </a:pPr>
            <a:r>
              <a:rPr lang="en-US" sz="2000" dirty="0">
                <a:solidFill>
                  <a:srgbClr val="12261A"/>
                </a:solidFill>
                <a:latin typeface="Albert Sans" pitchFamily="34" charset="0"/>
                <a:ea typeface="Albert Sans" pitchFamily="34" charset="-122"/>
                <a:cs typeface="Albert Sans" pitchFamily="34" charset="-120"/>
              </a:rPr>
              <a:t>Example question: “When did the university introduce online classes?”</a:t>
            </a:r>
            <a:endParaRPr lang="en-US" sz="2000" dirty="0"/>
          </a:p>
        </p:txBody>
      </p:sp>
      <p:sp>
        <p:nvSpPr>
          <p:cNvPr id="10" name="Shape 8"/>
          <p:cNvSpPr/>
          <p:nvPr/>
        </p:nvSpPr>
        <p:spPr>
          <a:xfrm>
            <a:off x="6324442" y="3810298"/>
            <a:ext cx="5257668" cy="1506141"/>
          </a:xfrm>
          <a:prstGeom prst="rect">
            <a:avLst/>
          </a:prstGeom>
          <a:solidFill>
            <a:srgbClr val="EFF7F0"/>
          </a:solidFill>
          <a:ln w="6350">
            <a:solidFill>
              <a:srgbClr val="17813A"/>
            </a:solidFill>
            <a:prstDash val="solid"/>
          </a:ln>
        </p:spPr>
      </p:sp>
      <p:sp>
        <p:nvSpPr>
          <p:cNvPr id="11" name="Text 9"/>
          <p:cNvSpPr/>
          <p:nvPr/>
        </p:nvSpPr>
        <p:spPr>
          <a:xfrm>
            <a:off x="6559386" y="4045248"/>
            <a:ext cx="5022724"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000000"/>
                </a:solidFill>
                <a:latin typeface="Red Hat Mono Medium" pitchFamily="34" charset="0"/>
                <a:ea typeface="Red Hat Mono Medium" pitchFamily="34" charset="-122"/>
                <a:cs typeface="Red Hat Mono Medium" pitchFamily="34" charset="-120"/>
              </a:rPr>
              <a:t>SCANNING TARGETS</a:t>
            </a:r>
            <a:endParaRPr lang="en-US" sz="1200" dirty="0"/>
          </a:p>
        </p:txBody>
      </p:sp>
      <p:sp>
        <p:nvSpPr>
          <p:cNvPr id="12" name="Text 10"/>
          <p:cNvSpPr/>
          <p:nvPr/>
        </p:nvSpPr>
        <p:spPr>
          <a:xfrm>
            <a:off x="6559386" y="4370288"/>
            <a:ext cx="4787780" cy="711200"/>
          </a:xfrm>
          <a:prstGeom prst="rect">
            <a:avLst/>
          </a:prstGeom>
          <a:noFill/>
          <a:ln/>
        </p:spPr>
        <p:txBody>
          <a:bodyPr wrap="square" lIns="0" tIns="0" rIns="0" bIns="0" rtlCol="0" anchor="t">
            <a:normAutofit/>
          </a:bodyPr>
          <a:lstStyle/>
          <a:p>
            <a:pPr marL="0" indent="0" algn="l">
              <a:lnSpc>
                <a:spcPct val="117000"/>
              </a:lnSpc>
              <a:buNone/>
            </a:pPr>
            <a:r>
              <a:rPr lang="en-US" sz="2000" dirty="0">
                <a:solidFill>
                  <a:srgbClr val="000000"/>
                </a:solidFill>
                <a:latin typeface="Albert Sans" pitchFamily="34" charset="0"/>
                <a:ea typeface="Albert Sans" pitchFamily="34" charset="-122"/>
                <a:cs typeface="Albert Sans" pitchFamily="34" charset="-120"/>
              </a:rPr>
              <a:t>Highlight: </a:t>
            </a:r>
            <a:r>
              <a:rPr lang="en-US" sz="2000" dirty="0">
                <a:solidFill>
                  <a:srgbClr val="000000"/>
                </a:solidFill>
                <a:highlight>
                  <a:srgbClr val="F4E23C"/>
                </a:highlight>
                <a:latin typeface="Albert Sans" pitchFamily="34" charset="0"/>
                <a:ea typeface="Albert Sans" pitchFamily="34" charset="-122"/>
                <a:cs typeface="Albert Sans" pitchFamily="34" charset="-120"/>
              </a:rPr>
              <a:t>WHEN + university + introduce + online classes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0972526" cy="457696"/>
          </a:xfrm>
          <a:prstGeom prst="rect">
            <a:avLst/>
          </a:prstGeom>
          <a:noFill/>
          <a:ln/>
        </p:spPr>
        <p:txBody>
          <a:bodyPr wrap="none" lIns="0" tIns="0" rIns="0" bIns="0" rtlCol="0" anchor="t"/>
          <a:lstStyle/>
          <a:p>
            <a:pPr marL="0" indent="0" algn="l">
              <a:lnSpc>
                <a:spcPct val="88000"/>
              </a:lnSpc>
              <a:buNone/>
            </a:pPr>
            <a:r>
              <a:rPr lang="en-US" sz="3400" kern="100" spc="-41" dirty="0">
                <a:solidFill>
                  <a:srgbClr val="12261A"/>
                </a:solidFill>
                <a:latin typeface="Hedvig Letters Serif" pitchFamily="34" charset="0"/>
                <a:ea typeface="Hedvig Letters Serif" pitchFamily="34" charset="-122"/>
                <a:cs typeface="Hedvig Letters Serif" pitchFamily="34" charset="-120"/>
              </a:rPr>
              <a:t>Mini Reading Practice</a:t>
            </a:r>
            <a:endParaRPr lang="en-US" sz="3400" dirty="0"/>
          </a:p>
        </p:txBody>
      </p:sp>
      <p:sp>
        <p:nvSpPr>
          <p:cNvPr id="3" name="Shape 1"/>
          <p:cNvSpPr/>
          <p:nvPr/>
        </p:nvSpPr>
        <p:spPr>
          <a:xfrm>
            <a:off x="609585" y="1335584"/>
            <a:ext cx="609585" cy="31651"/>
          </a:xfrm>
          <a:prstGeom prst="roundRect">
            <a:avLst>
              <a:gd name="adj" fmla="val 49998"/>
            </a:avLst>
          </a:prstGeom>
          <a:solidFill>
            <a:srgbClr val="17813A"/>
          </a:solidFill>
          <a:ln/>
        </p:spPr>
      </p:sp>
      <p:sp>
        <p:nvSpPr>
          <p:cNvPr id="4" name="Text 2"/>
          <p:cNvSpPr/>
          <p:nvPr/>
        </p:nvSpPr>
        <p:spPr>
          <a:xfrm>
            <a:off x="933427" y="2151162"/>
            <a:ext cx="5284358" cy="1813322"/>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12261A"/>
                </a:solidFill>
                <a:latin typeface="Albert Sans" pitchFamily="34" charset="0"/>
                <a:ea typeface="Albert Sans" pitchFamily="34" charset="-122"/>
                <a:cs typeface="Albert Sans" pitchFamily="34" charset="-120"/>
              </a:rPr>
              <a:t>“Online learning has become common in many universities. Students can attend lectures, access course materials, and communicate with teachers through digital platforms. This can make education more flexible, especially for students who live far from campus.”</a:t>
            </a:r>
            <a:endParaRPr lang="en-US" sz="1700" dirty="0"/>
          </a:p>
        </p:txBody>
      </p:sp>
      <p:sp>
        <p:nvSpPr>
          <p:cNvPr id="5" name="Shape 3"/>
          <p:cNvSpPr/>
          <p:nvPr/>
        </p:nvSpPr>
        <p:spPr>
          <a:xfrm>
            <a:off x="609585" y="2074962"/>
            <a:ext cx="28574" cy="1965722"/>
          </a:xfrm>
          <a:prstGeom prst="roundRect">
            <a:avLst>
              <a:gd name="adj" fmla="val 50000"/>
            </a:avLst>
          </a:prstGeom>
          <a:solidFill>
            <a:srgbClr val="17813A"/>
          </a:solidFill>
          <a:ln/>
        </p:spPr>
      </p:sp>
      <p:sp>
        <p:nvSpPr>
          <p:cNvPr id="6" name="Text 4"/>
          <p:cNvSpPr/>
          <p:nvPr/>
        </p:nvSpPr>
        <p:spPr>
          <a:xfrm>
            <a:off x="787380" y="4320084"/>
            <a:ext cx="5430404"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33443A"/>
                </a:solidFill>
                <a:latin typeface="Red Hat Mono Medium" pitchFamily="34" charset="0"/>
                <a:ea typeface="Red Hat Mono Medium" pitchFamily="34" charset="-122"/>
                <a:cs typeface="Red Hat Mono Medium" pitchFamily="34" charset="-120"/>
              </a:rPr>
              <a:t>TASK</a:t>
            </a:r>
            <a:endParaRPr lang="en-US" sz="1200" dirty="0"/>
          </a:p>
        </p:txBody>
      </p:sp>
      <p:sp>
        <p:nvSpPr>
          <p:cNvPr id="7" name="Text 5"/>
          <p:cNvSpPr/>
          <p:nvPr/>
        </p:nvSpPr>
        <p:spPr>
          <a:xfrm>
            <a:off x="787380" y="4645124"/>
            <a:ext cx="5252608" cy="1014611"/>
          </a:xfrm>
          <a:prstGeom prst="rect">
            <a:avLst/>
          </a:prstGeom>
          <a:noFill/>
          <a:ln/>
        </p:spPr>
        <p:txBody>
          <a:bodyPr wrap="square" lIns="0" tIns="0" rIns="0" bIns="0" rtlCol="0" anchor="t">
            <a:normAutofit/>
          </a:bodyPr>
          <a:lstStyle/>
          <a:p>
            <a:pPr marL="345440" indent="-345440" algn="l">
              <a:lnSpc>
                <a:spcPct val="117000"/>
              </a:lnSpc>
              <a:buSzPct val="100000"/>
              <a:buFont typeface="+mj-lt"/>
              <a:buAutoNum type="arabicPeriod"/>
            </a:pPr>
            <a:r>
              <a:rPr lang="en-US" sz="1700" dirty="0">
                <a:solidFill>
                  <a:srgbClr val="12261A"/>
                </a:solidFill>
                <a:latin typeface="Albert Sans" pitchFamily="34" charset="0"/>
                <a:ea typeface="Albert Sans" pitchFamily="34" charset="-122"/>
                <a:cs typeface="Albert Sans" pitchFamily="34" charset="-120"/>
              </a:rPr>
              <a:t>What is the topic?</a:t>
            </a:r>
            <a:endParaRPr lang="en-US" sz="1700" dirty="0"/>
          </a:p>
          <a:p>
            <a:pPr marL="345440" indent="-345440" algn="l">
              <a:lnSpc>
                <a:spcPct val="117000"/>
              </a:lnSpc>
              <a:buSzPct val="100000"/>
              <a:buFont typeface="+mj-lt"/>
              <a:buAutoNum type="arabicPeriod" startAt="2"/>
            </a:pPr>
            <a:r>
              <a:rPr lang="en-US" sz="1700" dirty="0">
                <a:solidFill>
                  <a:srgbClr val="12261A"/>
                </a:solidFill>
                <a:latin typeface="Albert Sans" pitchFamily="34" charset="0"/>
                <a:ea typeface="Albert Sans" pitchFamily="34" charset="-122"/>
                <a:cs typeface="Albert Sans" pitchFamily="34" charset="-120"/>
              </a:rPr>
              <a:t>What is the main idea?</a:t>
            </a:r>
            <a:endParaRPr lang="en-US" sz="1700" dirty="0"/>
          </a:p>
          <a:p>
            <a:pPr marL="345440" indent="-345440" algn="l">
              <a:lnSpc>
                <a:spcPct val="117000"/>
              </a:lnSpc>
              <a:buSzPct val="100000"/>
              <a:buFont typeface="+mj-lt"/>
              <a:buAutoNum type="arabicPeriod" startAt="3"/>
            </a:pPr>
            <a:r>
              <a:rPr lang="en-US" sz="1700" dirty="0">
                <a:solidFill>
                  <a:srgbClr val="12261A"/>
                </a:solidFill>
                <a:latin typeface="Albert Sans" pitchFamily="34" charset="0"/>
                <a:ea typeface="Albert Sans" pitchFamily="34" charset="-122"/>
                <a:cs typeface="Albert Sans" pitchFamily="34" charset="-120"/>
              </a:rPr>
              <a:t>Find two keywords.</a:t>
            </a:r>
            <a:endParaRPr lang="en-US" sz="1700" dirty="0"/>
          </a:p>
        </p:txBody>
      </p:sp>
      <p:sp>
        <p:nvSpPr>
          <p:cNvPr id="8" name="Shape 6"/>
          <p:cNvSpPr/>
          <p:nvPr/>
        </p:nvSpPr>
        <p:spPr>
          <a:xfrm>
            <a:off x="6674874" y="1613396"/>
            <a:ext cx="6350" cy="4635004"/>
          </a:xfrm>
          <a:prstGeom prst="rect">
            <a:avLst/>
          </a:prstGeom>
          <a:solidFill>
            <a:srgbClr val="17813A"/>
          </a:solidFill>
          <a:ln/>
        </p:spPr>
      </p:sp>
      <p:sp>
        <p:nvSpPr>
          <p:cNvPr id="10" name="Text 8"/>
          <p:cNvSpPr/>
          <p:nvPr/>
        </p:nvSpPr>
        <p:spPr>
          <a:xfrm>
            <a:off x="6986016" y="2428577"/>
            <a:ext cx="4596094" cy="302220"/>
          </a:xfrm>
          <a:prstGeom prst="rect">
            <a:avLst/>
          </a:prstGeom>
          <a:noFill/>
          <a:ln/>
        </p:spPr>
        <p:txBody>
          <a:bodyPr wrap="none" lIns="0" tIns="0" rIns="0" bIns="0" rtlCol="0" anchor="t"/>
          <a:lstStyle/>
          <a:p>
            <a:pPr marL="0" indent="0" algn="l">
              <a:lnSpc>
                <a:spcPct val="117000"/>
              </a:lnSpc>
              <a:buNone/>
            </a:pPr>
            <a:endParaRPr lang="en-US" sz="1700" dirty="0"/>
          </a:p>
        </p:txBody>
      </p:sp>
      <p:sp>
        <p:nvSpPr>
          <p:cNvPr id="11" name="Text 9"/>
          <p:cNvSpPr/>
          <p:nvPr/>
        </p:nvSpPr>
        <p:spPr>
          <a:xfrm>
            <a:off x="7163811" y="3060998"/>
            <a:ext cx="4418299" cy="198041"/>
          </a:xfrm>
          <a:prstGeom prst="rect">
            <a:avLst/>
          </a:prstGeom>
          <a:noFill/>
          <a:ln/>
        </p:spPr>
        <p:txBody>
          <a:bodyPr wrap="none" lIns="0" tIns="0" rIns="0" bIns="0" rtlCol="0" anchor="t"/>
          <a:lstStyle/>
          <a:p>
            <a:pPr marL="0" indent="0" algn="l">
              <a:lnSpc>
                <a:spcPct val="108000"/>
              </a:lnSpc>
              <a:buNone/>
            </a:pPr>
            <a:endParaRPr lang="en-US" sz="1200" dirty="0"/>
          </a:p>
        </p:txBody>
      </p:sp>
      <p:sp>
        <p:nvSpPr>
          <p:cNvPr id="12" name="Text 10"/>
          <p:cNvSpPr/>
          <p:nvPr/>
        </p:nvSpPr>
        <p:spPr>
          <a:xfrm>
            <a:off x="7163811" y="3386038"/>
            <a:ext cx="4240503" cy="2194322"/>
          </a:xfrm>
          <a:prstGeom prst="rect">
            <a:avLst/>
          </a:prstGeom>
          <a:noFill/>
          <a:ln/>
        </p:spPr>
        <p:txBody>
          <a:bodyPr wrap="square" lIns="0" tIns="0" rIns="0" bIns="0" rtlCol="0" anchor="t"/>
          <a:lstStyle/>
          <a:p>
            <a:pPr marL="0" indent="0" algn="l">
              <a:lnSpc>
                <a:spcPct val="117000"/>
              </a:lnSpc>
              <a:spcAft>
                <a:spcPts val="950"/>
              </a:spcAft>
              <a:buNone/>
            </a:pPr>
            <a:r>
              <a:rPr lang="en-US" sz="1700" dirty="0">
                <a:solidFill>
                  <a:srgbClr val="12261A"/>
                </a:solidFill>
                <a:latin typeface="Albert Sans" pitchFamily="34" charset="0"/>
                <a:ea typeface="Albert Sans" pitchFamily="34" charset="-122"/>
                <a:cs typeface="Albert Sans" pitchFamily="34" charset="-120"/>
              </a:rPr>
              <a:t>Answer reveal:</a:t>
            </a:r>
            <a:endParaRPr lang="en-US" sz="1700" dirty="0"/>
          </a:p>
          <a:p>
            <a:pPr marL="0" indent="0" algn="l">
              <a:lnSpc>
                <a:spcPct val="117000"/>
              </a:lnSpc>
              <a:spcAft>
                <a:spcPts val="950"/>
              </a:spcAft>
              <a:buNone/>
            </a:pPr>
            <a:r>
              <a:rPr lang="en-US" sz="1700" b="1" dirty="0">
                <a:solidFill>
                  <a:srgbClr val="12261A"/>
                </a:solidFill>
                <a:latin typeface="Albert Sans Bold" pitchFamily="34" charset="0"/>
                <a:ea typeface="Albert Sans Bold" pitchFamily="34" charset="-122"/>
                <a:cs typeface="Albert Sans Bold" pitchFamily="34" charset="-120"/>
              </a:rPr>
              <a:t>1.</a:t>
            </a:r>
            <a:r>
              <a:rPr lang="en-US" sz="1700" dirty="0">
                <a:solidFill>
                  <a:srgbClr val="12261A"/>
                </a:solidFill>
                <a:latin typeface="Albert Sans" pitchFamily="34" charset="0"/>
                <a:ea typeface="Albert Sans" pitchFamily="34" charset="-122"/>
                <a:cs typeface="Albert Sans" pitchFamily="34" charset="-120"/>
              </a:rPr>
              <a:t> Online learning</a:t>
            </a:r>
            <a:endParaRPr lang="en-US" sz="1700" dirty="0"/>
          </a:p>
          <a:p>
            <a:pPr marL="0" indent="0" algn="l">
              <a:lnSpc>
                <a:spcPct val="117000"/>
              </a:lnSpc>
              <a:spcAft>
                <a:spcPts val="950"/>
              </a:spcAft>
              <a:buNone/>
            </a:pPr>
            <a:r>
              <a:rPr lang="en-US" sz="1700" b="1" dirty="0">
                <a:solidFill>
                  <a:srgbClr val="12261A"/>
                </a:solidFill>
                <a:latin typeface="Albert Sans Bold" pitchFamily="34" charset="0"/>
                <a:ea typeface="Albert Sans Bold" pitchFamily="34" charset="-122"/>
                <a:cs typeface="Albert Sans Bold" pitchFamily="34" charset="-120"/>
              </a:rPr>
              <a:t>2.</a:t>
            </a:r>
            <a:r>
              <a:rPr lang="en-US" sz="1700" dirty="0">
                <a:solidFill>
                  <a:srgbClr val="12261A"/>
                </a:solidFill>
                <a:latin typeface="Albert Sans" pitchFamily="34" charset="0"/>
                <a:ea typeface="Albert Sans" pitchFamily="34" charset="-122"/>
                <a:cs typeface="Albert Sans" pitchFamily="34" charset="-120"/>
              </a:rPr>
              <a:t> Online learning can make education more flexible.</a:t>
            </a:r>
            <a:endParaRPr lang="en-US" sz="1700" dirty="0"/>
          </a:p>
          <a:p>
            <a:pPr marL="0" indent="0" algn="l">
              <a:lnSpc>
                <a:spcPct val="117000"/>
              </a:lnSpc>
              <a:buNone/>
            </a:pPr>
            <a:r>
              <a:rPr lang="en-US" sz="1700" b="1" dirty="0">
                <a:solidFill>
                  <a:srgbClr val="12261A"/>
                </a:solidFill>
                <a:latin typeface="Albert Sans Bold" pitchFamily="34" charset="0"/>
                <a:ea typeface="Albert Sans Bold" pitchFamily="34" charset="-122"/>
                <a:cs typeface="Albert Sans Bold" pitchFamily="34" charset="-120"/>
              </a:rPr>
              <a:t>3.</a:t>
            </a:r>
            <a:r>
              <a:rPr lang="en-US" sz="1700" dirty="0">
                <a:solidFill>
                  <a:srgbClr val="12261A"/>
                </a:solidFill>
                <a:latin typeface="Albert Sans" pitchFamily="34" charset="0"/>
                <a:ea typeface="Albert Sans" pitchFamily="34" charset="-122"/>
                <a:cs typeface="Albert Sans" pitchFamily="34" charset="-120"/>
              </a:rPr>
              <a:t> Example keywords: online learning, universities, students, flexible.</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508000"/>
            <a:ext cx="11582110" cy="198041"/>
          </a:xfrm>
          <a:prstGeom prst="rect">
            <a:avLst/>
          </a:prstGeom>
          <a:noFill/>
          <a:ln/>
        </p:spPr>
        <p:txBody>
          <a:bodyPr wrap="none" lIns="0" tIns="0" rIns="0" bIns="0" rtlCol="0" anchor="t"/>
          <a:lstStyle/>
          <a:p>
            <a:pPr marL="0" indent="0" algn="l">
              <a:lnSpc>
                <a:spcPct val="108000"/>
              </a:lnSpc>
              <a:buNone/>
            </a:pPr>
            <a:r>
              <a:rPr lang="en-US" sz="1200" kern="100" spc="96" dirty="0">
                <a:solidFill>
                  <a:srgbClr val="FFFFFF"/>
                </a:solidFill>
                <a:latin typeface="Red Hat Mono Medium" pitchFamily="34" charset="0"/>
                <a:ea typeface="Red Hat Mono Medium" pitchFamily="34" charset="-122"/>
                <a:cs typeface="Red Hat Mono Medium" pitchFamily="34" charset="-120"/>
              </a:rPr>
              <a:t>SUMMARY TOOLKIT</a:t>
            </a:r>
            <a:endParaRPr lang="en-US" sz="1200" dirty="0"/>
          </a:p>
        </p:txBody>
      </p:sp>
      <p:sp>
        <p:nvSpPr>
          <p:cNvPr id="3" name="Text 1"/>
          <p:cNvSpPr/>
          <p:nvPr/>
        </p:nvSpPr>
        <p:spPr>
          <a:xfrm>
            <a:off x="609585" y="791766"/>
            <a:ext cx="10972526" cy="2011561"/>
          </a:xfrm>
          <a:prstGeom prst="rect">
            <a:avLst/>
          </a:prstGeom>
          <a:noFill/>
          <a:ln/>
        </p:spPr>
        <p:txBody>
          <a:bodyPr wrap="square" lIns="0" tIns="0" rIns="0" bIns="0" rtlCol="0" anchor="t">
            <a:normAutofit lnSpcReduction="10000"/>
          </a:bodyPr>
          <a:lstStyle/>
          <a:p>
            <a:pPr marL="0" indent="0" algn="l">
              <a:lnSpc>
                <a:spcPct val="92000"/>
              </a:lnSpc>
              <a:buNone/>
            </a:pPr>
            <a:r>
              <a:rPr lang="en-US" sz="7200" kern="100" spc="-144" dirty="0">
                <a:solidFill>
                  <a:srgbClr val="FFFFFF"/>
                </a:solidFill>
                <a:latin typeface="Hedvig Letters Serif" pitchFamily="34" charset="0"/>
                <a:ea typeface="Hedvig Letters Serif" pitchFamily="34" charset="-122"/>
                <a:cs typeface="Hedvig Letters Serif" pitchFamily="34" charset="-120"/>
              </a:rPr>
              <a:t>Your First Reading Survival Kit</a:t>
            </a:r>
            <a:endParaRPr lang="en-US" sz="7200" dirty="0"/>
          </a:p>
        </p:txBody>
      </p:sp>
      <p:sp>
        <p:nvSpPr>
          <p:cNvPr id="4" name="Shape 2"/>
          <p:cNvSpPr/>
          <p:nvPr/>
        </p:nvSpPr>
        <p:spPr>
          <a:xfrm>
            <a:off x="609585" y="3203178"/>
            <a:ext cx="201111" cy="31651"/>
          </a:xfrm>
          <a:prstGeom prst="roundRect">
            <a:avLst>
              <a:gd name="adj" fmla="val 49998"/>
            </a:avLst>
          </a:prstGeom>
          <a:solidFill>
            <a:srgbClr val="EFF7F0"/>
          </a:solidFill>
          <a:ln/>
        </p:spPr>
      </p:sp>
      <p:sp>
        <p:nvSpPr>
          <p:cNvPr id="5" name="Text 3"/>
          <p:cNvSpPr/>
          <p:nvPr/>
        </p:nvSpPr>
        <p:spPr>
          <a:xfrm>
            <a:off x="609585" y="3642916"/>
            <a:ext cx="10972526" cy="355600"/>
          </a:xfrm>
          <a:prstGeom prst="rect">
            <a:avLst/>
          </a:prstGeom>
          <a:noFill/>
          <a:ln/>
        </p:spPr>
        <p:txBody>
          <a:bodyPr wrap="none" lIns="0" tIns="0" rIns="0" bIns="0" rtlCol="0" anchor="t"/>
          <a:lstStyle/>
          <a:p>
            <a:pPr marL="0" indent="0" algn="l">
              <a:lnSpc>
                <a:spcPct val="117000"/>
              </a:lnSpc>
              <a:buNone/>
            </a:pPr>
            <a:r>
              <a:rPr lang="en-US" sz="2000" b="1" dirty="0">
                <a:solidFill>
                  <a:srgbClr val="FFFFFF"/>
                </a:solidFill>
                <a:latin typeface="Albert Sans Bold" pitchFamily="34" charset="0"/>
                <a:ea typeface="Albert Sans Bold" pitchFamily="34" charset="-122"/>
                <a:cs typeface="Albert Sans Bold" pitchFamily="34" charset="-120"/>
              </a:rPr>
              <a:t>TOPIC</a:t>
            </a:r>
            <a:r>
              <a:rPr lang="en-US" sz="2000" dirty="0">
                <a:solidFill>
                  <a:srgbClr val="FFFFFF"/>
                </a:solidFill>
                <a:latin typeface="Albert Sans" pitchFamily="34" charset="0"/>
                <a:ea typeface="Albert Sans" pitchFamily="34" charset="-122"/>
                <a:cs typeface="Albert Sans" pitchFamily="34" charset="-120"/>
              </a:rPr>
              <a:t> → What?</a:t>
            </a:r>
            <a:endParaRPr lang="en-US" sz="2000" dirty="0"/>
          </a:p>
        </p:txBody>
      </p:sp>
      <p:sp>
        <p:nvSpPr>
          <p:cNvPr id="6" name="Text 4"/>
          <p:cNvSpPr/>
          <p:nvPr/>
        </p:nvSpPr>
        <p:spPr>
          <a:xfrm>
            <a:off x="609585" y="4303316"/>
            <a:ext cx="10972526" cy="355600"/>
          </a:xfrm>
          <a:prstGeom prst="rect">
            <a:avLst/>
          </a:prstGeom>
          <a:noFill/>
          <a:ln/>
        </p:spPr>
        <p:txBody>
          <a:bodyPr wrap="none" lIns="0" tIns="0" rIns="0" bIns="0" rtlCol="0" anchor="t"/>
          <a:lstStyle/>
          <a:p>
            <a:pPr marL="0" indent="0" algn="l">
              <a:lnSpc>
                <a:spcPct val="117000"/>
              </a:lnSpc>
              <a:buNone/>
            </a:pPr>
            <a:r>
              <a:rPr lang="en-US" sz="2000" b="1" dirty="0">
                <a:solidFill>
                  <a:srgbClr val="FFFFFF"/>
                </a:solidFill>
                <a:latin typeface="Albert Sans Bold" pitchFamily="34" charset="0"/>
                <a:ea typeface="Albert Sans Bold" pitchFamily="34" charset="-122"/>
                <a:cs typeface="Albert Sans Bold" pitchFamily="34" charset="-120"/>
              </a:rPr>
              <a:t>MAIN IDEA</a:t>
            </a:r>
            <a:r>
              <a:rPr lang="en-US" sz="2000" dirty="0">
                <a:solidFill>
                  <a:srgbClr val="FFFFFF"/>
                </a:solidFill>
                <a:latin typeface="Albert Sans" pitchFamily="34" charset="0"/>
                <a:ea typeface="Albert Sans" pitchFamily="34" charset="-122"/>
                <a:cs typeface="Albert Sans" pitchFamily="34" charset="-120"/>
              </a:rPr>
              <a:t> → What does the writer say?</a:t>
            </a:r>
            <a:endParaRPr lang="en-US" sz="2000" dirty="0"/>
          </a:p>
        </p:txBody>
      </p:sp>
      <p:sp>
        <p:nvSpPr>
          <p:cNvPr id="7" name="Text 5"/>
          <p:cNvSpPr/>
          <p:nvPr/>
        </p:nvSpPr>
        <p:spPr>
          <a:xfrm>
            <a:off x="609585" y="4963716"/>
            <a:ext cx="10972526" cy="355600"/>
          </a:xfrm>
          <a:prstGeom prst="rect">
            <a:avLst/>
          </a:prstGeom>
          <a:noFill/>
          <a:ln/>
        </p:spPr>
        <p:txBody>
          <a:bodyPr wrap="none" lIns="0" tIns="0" rIns="0" bIns="0" rtlCol="0" anchor="t"/>
          <a:lstStyle/>
          <a:p>
            <a:pPr marL="0" indent="0" algn="l">
              <a:lnSpc>
                <a:spcPct val="117000"/>
              </a:lnSpc>
              <a:buNone/>
            </a:pPr>
            <a:r>
              <a:rPr lang="en-US" sz="2000" b="1" dirty="0">
                <a:solidFill>
                  <a:srgbClr val="FFFFFF"/>
                </a:solidFill>
                <a:latin typeface="Albert Sans Bold" pitchFamily="34" charset="0"/>
                <a:ea typeface="Albert Sans Bold" pitchFamily="34" charset="-122"/>
                <a:cs typeface="Albert Sans Bold" pitchFamily="34" charset="-120"/>
              </a:rPr>
              <a:t>KEYWORDS</a:t>
            </a:r>
            <a:r>
              <a:rPr lang="en-US" sz="2000" dirty="0">
                <a:solidFill>
                  <a:srgbClr val="FFFFFF"/>
                </a:solidFill>
                <a:latin typeface="Albert Sans" pitchFamily="34" charset="0"/>
                <a:ea typeface="Albert Sans" pitchFamily="34" charset="-122"/>
                <a:cs typeface="Albert Sans" pitchFamily="34" charset="-120"/>
              </a:rPr>
              <a:t> → What helps me find information?</a:t>
            </a:r>
            <a:endParaRPr lang="en-US" sz="2000" dirty="0"/>
          </a:p>
        </p:txBody>
      </p:sp>
      <p:sp>
        <p:nvSpPr>
          <p:cNvPr id="8" name="Text 6"/>
          <p:cNvSpPr/>
          <p:nvPr/>
        </p:nvSpPr>
        <p:spPr>
          <a:xfrm>
            <a:off x="863578" y="5878116"/>
            <a:ext cx="10718532" cy="355600"/>
          </a:xfrm>
          <a:prstGeom prst="rect">
            <a:avLst/>
          </a:prstGeom>
          <a:noFill/>
          <a:ln/>
        </p:spPr>
        <p:txBody>
          <a:bodyPr wrap="none" lIns="0" tIns="0" rIns="0" bIns="0" rtlCol="0" anchor="t"/>
          <a:lstStyle/>
          <a:p>
            <a:pPr marL="0" indent="0" algn="l">
              <a:lnSpc>
                <a:spcPct val="117000"/>
              </a:lnSpc>
              <a:buNone/>
            </a:pPr>
            <a:r>
              <a:rPr lang="en-US" sz="2000" dirty="0">
                <a:solidFill>
                  <a:srgbClr val="000000"/>
                </a:solidFill>
                <a:highlight>
                  <a:srgbClr val="F4E23C"/>
                </a:highlight>
                <a:latin typeface="Albert Sans" pitchFamily="34" charset="0"/>
                <a:ea typeface="Albert Sans" pitchFamily="34" charset="-122"/>
                <a:cs typeface="Albert Sans" pitchFamily="34" charset="-120"/>
              </a:rPr>
              <a:t>Don't translate everything. First, find what matters.</a:t>
            </a:r>
            <a:endParaRPr lang="en-US" sz="2000" dirty="0"/>
          </a:p>
        </p:txBody>
      </p:sp>
      <p:sp>
        <p:nvSpPr>
          <p:cNvPr id="9" name="Shape 7"/>
          <p:cNvSpPr/>
          <p:nvPr/>
        </p:nvSpPr>
        <p:spPr>
          <a:xfrm>
            <a:off x="609585" y="4144566"/>
            <a:ext cx="10972526" cy="12700"/>
          </a:xfrm>
          <a:prstGeom prst="rect">
            <a:avLst/>
          </a:prstGeom>
          <a:solidFill>
            <a:srgbClr val="EFF7F0"/>
          </a:solidFill>
          <a:ln/>
        </p:spPr>
      </p:sp>
      <p:sp>
        <p:nvSpPr>
          <p:cNvPr id="10" name="Shape 8"/>
          <p:cNvSpPr/>
          <p:nvPr/>
        </p:nvSpPr>
        <p:spPr>
          <a:xfrm>
            <a:off x="609585" y="4804966"/>
            <a:ext cx="10972526" cy="12700"/>
          </a:xfrm>
          <a:prstGeom prst="rect">
            <a:avLst/>
          </a:prstGeom>
          <a:solidFill>
            <a:srgbClr val="EFF7F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951</Words>
  <Application>Microsoft Office PowerPoint</Application>
  <PresentationFormat>Widescreen</PresentationFormat>
  <Paragraphs>116</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George Reda</cp:lastModifiedBy>
  <cp:revision>3</cp:revision>
  <dcterms:created xsi:type="dcterms:W3CDTF">2026-10-02T18:31:19Z</dcterms:created>
  <dcterms:modified xsi:type="dcterms:W3CDTF">2026-10-04T13:23:03Z</dcterms:modified>
</cp:coreProperties>
</file>